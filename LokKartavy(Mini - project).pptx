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05342-C9A1-4646-895D-5D616BBAE24E}" type="datetimeFigureOut">
              <a:rPr lang="en-IN" smtClean="0"/>
              <a:t>20-03-26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C5BD0-EBED-4259-B2DE-2768BAF0A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14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BED4-0B2F-47A4-A22A-56D1B9C6B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CA9C7-D2FD-40A3-9451-CE6550C22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DD2DB-291F-4BED-94C4-7AB994D03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8BE-9950-4A6B-9271-5161F297A37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8FDB2-D570-4569-920E-CF630B46F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77F87-2E0A-4885-A695-D7CFD545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24E-FA54-4CF3-8808-5C500C7C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9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82DF-D6DC-424D-89AA-AC35B692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F6F7-EFEB-42AE-B43C-1AA95B659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D5115-6994-4BD7-A7D8-60E03A76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8BE-9950-4A6B-9271-5161F297A37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A0EB8-AB22-4A0F-A22A-3B97ADE7F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3567D-ECAD-4344-AEEF-6263C44E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24E-FA54-4CF3-8808-5C500C7C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9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33BED-A9A3-4D2E-83EE-934896EB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27412-65ED-4CA9-A6D8-BD212D330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7F96E-3DC2-4BE4-9BC8-DB68EACD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8BE-9950-4A6B-9271-5161F297A37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A9A1C-63D5-4201-A059-C76406596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54879-0B08-4186-8C68-B7EC7457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24E-FA54-4CF3-8808-5C500C7C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9F2F-E43A-4E62-96D4-0680E3854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5D6E4-E9EA-4462-A37D-A10B2006F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272C5-DFA4-41D5-AD1F-8FA1F55A9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9A06F-30C6-4558-A7DA-3BDC950FF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8BE-9950-4A6B-9271-5161F297A37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A12BC-1524-4025-B559-AFF9CDF74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C333-120E-462A-AA0B-F501ECA70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24E-FA54-4CF3-8808-5C500C7C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59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4910-AB29-41E8-B14C-A3EA4187D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46581-7F64-49DA-8D83-DA0B32A2C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8D26E-CC42-46BA-90D9-6209A0214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DB6A0-496E-4E42-B776-8DB247892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CB2C0-550A-46FD-99DD-5D583F40B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69AEBA-D53F-44BD-8623-C03C9A68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8BE-9950-4A6B-9271-5161F297A37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F22153-4E3C-4B35-8F9E-CC25DEBD5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2B70EB-A3A8-49E5-AA77-B6EED4936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24E-FA54-4CF3-8808-5C500C7C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36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AD822-0DA5-44C1-8EE5-E48856F7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5DBC0-0B8A-4D86-B7AB-43E58335E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8BE-9950-4A6B-9271-5161F297A37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150EF-CA83-4923-AC77-7C3FF711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7C29A-B78E-4A4C-86AA-333A5B22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24E-FA54-4CF3-8808-5C500C7C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F5D5E-64F5-4D00-BD33-B54ADA78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8BE-9950-4A6B-9271-5161F297A37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4CBF0-0AE4-4548-AFA0-4DA25B81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5473C-B940-4A08-B512-169EA194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24E-FA54-4CF3-8808-5C500C7C206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038A584-2116-4DE0-8949-87019C5D99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95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C0E7C-0928-45C1-BDE5-771316353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94D3F-56CE-4849-8532-CAB7116EF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FFA9F-57FD-49AF-BE65-DF2BC080F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95AC0-A68F-41FA-A028-B0060705D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8BE-9950-4A6B-9271-5161F297A37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AD62E-1CAB-450E-86BA-6E5B98E5B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3EE07-8513-4AC4-9A8C-7403032F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24E-FA54-4CF3-8808-5C500C7C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72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75CD-7F64-425C-9524-1D432C906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A4577-0CB3-4BA7-8833-46228E8CB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FE7DD-24BA-4C9C-B8FC-35D03C312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CA745-4BA1-4FAC-A6BB-1C7C3FFD7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8BE-9950-4A6B-9271-5161F297A37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9BE0F-A20D-4363-A470-AA02D11EF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DEE1A-F48B-4AB7-AF80-E17B918D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24E-FA54-4CF3-8808-5C500C7C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86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9824-7BEB-4190-92CC-254B25BD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706AB-9831-4521-8B4E-C1BA2CF23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E38CE-B60F-41DC-A968-29B185F6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8BE-9950-4A6B-9271-5161F297A37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BD6BC-C1A8-49D5-86E2-7FBBF8EE0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C49BE-C1B1-41AC-ABB5-38402CF6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24E-FA54-4CF3-8808-5C500C7C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02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5C95C2-2E45-4C44-91BA-32E05BFF0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18C99-4F17-4BDD-B514-2A22E1075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37A3-5290-439F-8971-92E69F73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8BE-9950-4A6B-9271-5161F297A37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91A85-9CAA-44CA-99B8-1F9424E83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0A53A-8010-4C13-B32B-8AF9090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24E-FA54-4CF3-8808-5C500C7C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4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8238CF-D070-4A12-9A70-6BA4EC58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89C5B-BB38-4177-A541-B09BC0236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750DB-6FC5-43F8-B369-45AFFCC95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A28BE-9950-4A6B-9271-5161F297A37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B840F-3723-43C6-9B32-97881C485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D0A9A-6802-4B83-A5D0-F991B74D8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4524E-FA54-4CF3-8808-5C500C7C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3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5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B8079EA-A213-4922-82DD-7DB82C59C49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6" b="7846"/>
          <a:stretch>
            <a:fillRect/>
          </a:stretch>
        </p:blipFill>
        <p:spPr/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71D5305-5B65-4572-9DDB-6983633F28D4}"/>
              </a:ext>
            </a:extLst>
          </p:cNvPr>
          <p:cNvGrpSpPr/>
          <p:nvPr/>
        </p:nvGrpSpPr>
        <p:grpSpPr>
          <a:xfrm>
            <a:off x="3340610" y="2653292"/>
            <a:ext cx="7755875" cy="1551416"/>
            <a:chOff x="2218063" y="3136613"/>
            <a:chExt cx="7755875" cy="10156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AB6EFD2-0995-41DB-B16D-1F321B21197B}"/>
                </a:ext>
              </a:extLst>
            </p:cNvPr>
            <p:cNvSpPr txBox="1"/>
            <p:nvPr/>
          </p:nvSpPr>
          <p:spPr>
            <a:xfrm>
              <a:off x="2218063" y="3136613"/>
              <a:ext cx="775587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6000" dirty="0">
                  <a:solidFill>
                    <a:schemeClr val="accent2">
                      <a:lumMod val="75000"/>
                    </a:schemeClr>
                  </a:solidFill>
                  <a:latin typeface="Montserrat Bold" panose="00000800000000000000" pitchFamily="2" charset="0"/>
                </a:rPr>
                <a:t>LokKartavya</a:t>
              </a:r>
              <a:endParaRPr lang="ko-KR" altLang="en-US" sz="60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76B621-A23C-44BB-9E97-7A9BB7E3D4EB}"/>
                </a:ext>
              </a:extLst>
            </p:cNvPr>
            <p:cNvSpPr txBox="1"/>
            <p:nvPr/>
          </p:nvSpPr>
          <p:spPr>
            <a:xfrm>
              <a:off x="2938042" y="3721388"/>
              <a:ext cx="6315916" cy="426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850"/>
                </a:lnSpc>
              </a:pPr>
              <a:r>
                <a:rPr lang="en-US" sz="1600" dirty="0">
                  <a:latin typeface="Georgia Pro Light" panose="02040302050405020303" pitchFamily="18" charset="0"/>
                  <a:ea typeface="Inter Medium" pitchFamily="34" charset="-122"/>
                  <a:cs typeface="Leelawadee UI" panose="020B0502040204020203" pitchFamily="34" charset="-34"/>
                </a:rPr>
                <a:t>A Fact-Based Platform for Civic Awareness &amp; Transparency</a:t>
              </a:r>
              <a:endParaRPr lang="en-US" sz="1600" dirty="0">
                <a:latin typeface="Georgia Pro Light" panose="02040302050405020303" pitchFamily="18" charset="0"/>
                <a:cs typeface="Leelawadee UI" panose="020B0502040204020203" pitchFamily="34" charset="-34"/>
              </a:endParaRPr>
            </a:p>
          </p:txBody>
        </p:sp>
      </p:grpSp>
      <p:sp>
        <p:nvSpPr>
          <p:cNvPr id="17" name="Text 2">
            <a:extLst>
              <a:ext uri="{FF2B5EF4-FFF2-40B4-BE49-F238E27FC236}">
                <a16:creationId xmlns:a16="http://schemas.microsoft.com/office/drawing/2014/main" id="{59B16FE5-B5E6-F16D-B6ED-A5E8443AF517}"/>
              </a:ext>
            </a:extLst>
          </p:cNvPr>
          <p:cNvSpPr/>
          <p:nvPr/>
        </p:nvSpPr>
        <p:spPr>
          <a:xfrm>
            <a:off x="4079627" y="4293557"/>
            <a:ext cx="6277839" cy="58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30303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Understanding public leadership through verified information</a:t>
            </a:r>
            <a:endParaRPr lang="en-US" sz="2200" b="1" dirty="0">
              <a:latin typeface="Georgia Pro Light" panose="02040302050405020303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EE1089B-BDEC-E5C2-5618-A7E7B7473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48" y="1863609"/>
            <a:ext cx="3365841" cy="33658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863299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DD5A7F91-EE8D-2BBB-B1F2-A6F14ADE4EDF}"/>
              </a:ext>
            </a:extLst>
          </p:cNvPr>
          <p:cNvSpPr/>
          <p:nvPr/>
        </p:nvSpPr>
        <p:spPr>
          <a:xfrm>
            <a:off x="268939" y="167183"/>
            <a:ext cx="454808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167"/>
              </a:lnSpc>
            </a:pPr>
            <a:r>
              <a:rPr lang="en-US" sz="3333" dirty="0">
                <a:solidFill>
                  <a:srgbClr val="030303"/>
                </a:solidFill>
                <a:latin typeface="DM Sans Semi Bold" panose="020B0604020202020204" charset="0"/>
                <a:ea typeface="DM Sans Semi Bold" pitchFamily="34" charset="-122"/>
                <a:cs typeface="DM Sans Semi Bold" pitchFamily="34" charset="-120"/>
              </a:rPr>
              <a:t>Problem We Identified</a:t>
            </a:r>
            <a:endParaRPr lang="en-US" sz="3333" dirty="0">
              <a:latin typeface="DM Sans Semi Bold" panose="020B0604020202020204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292C72B2-69F6-BCE5-5D8D-700D389C1894}"/>
              </a:ext>
            </a:extLst>
          </p:cNvPr>
          <p:cNvSpPr/>
          <p:nvPr/>
        </p:nvSpPr>
        <p:spPr>
          <a:xfrm>
            <a:off x="268939" y="858440"/>
            <a:ext cx="5415458" cy="1018382"/>
          </a:xfrm>
          <a:prstGeom prst="roundRect">
            <a:avLst>
              <a:gd name="adj" fmla="val 8979"/>
            </a:avLst>
          </a:prstGeom>
          <a:solidFill>
            <a:schemeClr val="accent2">
              <a:lumMod val="20000"/>
              <a:lumOff val="80000"/>
            </a:scheme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D6FD8297-E2E7-8484-8217-C9EF2A5D159C}"/>
              </a:ext>
            </a:extLst>
          </p:cNvPr>
          <p:cNvSpPr/>
          <p:nvPr/>
        </p:nvSpPr>
        <p:spPr>
          <a:xfrm>
            <a:off x="249889" y="858440"/>
            <a:ext cx="76200" cy="1018382"/>
          </a:xfrm>
          <a:prstGeom prst="roundRect">
            <a:avLst>
              <a:gd name="adj" fmla="val 33494"/>
            </a:avLst>
          </a:prstGeom>
          <a:solidFill>
            <a:srgbClr val="C00000"/>
          </a:solidFill>
          <a:ln/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C4A0EEF-6827-EF02-C12B-4CE1BA1555CD}"/>
              </a:ext>
            </a:extLst>
          </p:cNvPr>
          <p:cNvSpPr/>
          <p:nvPr/>
        </p:nvSpPr>
        <p:spPr>
          <a:xfrm>
            <a:off x="515200" y="1047551"/>
            <a:ext cx="2262982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20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Scattered Information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2CC206D-4B69-050D-59E5-9654DB40C1CA}"/>
              </a:ext>
            </a:extLst>
          </p:cNvPr>
          <p:cNvSpPr/>
          <p:nvPr/>
        </p:nvSpPr>
        <p:spPr>
          <a:xfrm>
            <a:off x="515200" y="1415454"/>
            <a:ext cx="4980087" cy="272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Government data is fragmented and inconsistent.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DF915741-8D26-6DF1-A66C-69160528EBD8}"/>
              </a:ext>
            </a:extLst>
          </p:cNvPr>
          <p:cNvSpPr/>
          <p:nvPr/>
        </p:nvSpPr>
        <p:spPr>
          <a:xfrm>
            <a:off x="2146216" y="2181152"/>
            <a:ext cx="5415458" cy="1018382"/>
          </a:xfrm>
          <a:prstGeom prst="roundRect">
            <a:avLst>
              <a:gd name="adj" fmla="val 8979"/>
            </a:avLst>
          </a:prstGeom>
          <a:solidFill>
            <a:schemeClr val="accent2">
              <a:lumMod val="60000"/>
              <a:lumOff val="40000"/>
            </a:scheme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2C71C73E-27C8-D970-21EB-2AA91C255F03}"/>
              </a:ext>
            </a:extLst>
          </p:cNvPr>
          <p:cNvSpPr/>
          <p:nvPr/>
        </p:nvSpPr>
        <p:spPr>
          <a:xfrm>
            <a:off x="2127166" y="2181152"/>
            <a:ext cx="76200" cy="1018382"/>
          </a:xfrm>
          <a:prstGeom prst="roundRect">
            <a:avLst>
              <a:gd name="adj" fmla="val 33494"/>
            </a:avLst>
          </a:prstGeom>
          <a:solidFill>
            <a:srgbClr val="C00000"/>
          </a:solidFill>
          <a:ln/>
        </p:spPr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198EC079-3532-BEE9-66D3-EBE591FAE85C}"/>
              </a:ext>
            </a:extLst>
          </p:cNvPr>
          <p:cNvSpPr/>
          <p:nvPr/>
        </p:nvSpPr>
        <p:spPr>
          <a:xfrm>
            <a:off x="2392477" y="2370263"/>
            <a:ext cx="2126853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20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Bias &amp; Opinion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5FD1AB8-7F16-B96A-7F57-B98118FE9271}"/>
              </a:ext>
            </a:extLst>
          </p:cNvPr>
          <p:cNvSpPr/>
          <p:nvPr/>
        </p:nvSpPr>
        <p:spPr>
          <a:xfrm>
            <a:off x="2392477" y="2738166"/>
            <a:ext cx="4980087" cy="272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Social media and news often skew perceptions.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818B5C8A-2345-3CE3-647B-F39BF1989FE1}"/>
              </a:ext>
            </a:extLst>
          </p:cNvPr>
          <p:cNvSpPr/>
          <p:nvPr/>
        </p:nvSpPr>
        <p:spPr>
          <a:xfrm>
            <a:off x="3683942" y="3510410"/>
            <a:ext cx="5415458" cy="1018382"/>
          </a:xfrm>
          <a:prstGeom prst="roundRect">
            <a:avLst>
              <a:gd name="adj" fmla="val 8979"/>
            </a:avLst>
          </a:prstGeom>
          <a:solidFill>
            <a:schemeClr val="accent2">
              <a:lumMod val="20000"/>
              <a:lumOff val="80000"/>
            </a:schemeClr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38F9126A-300B-4716-6BE5-ABB25C5931EC}"/>
              </a:ext>
            </a:extLst>
          </p:cNvPr>
          <p:cNvSpPr/>
          <p:nvPr/>
        </p:nvSpPr>
        <p:spPr>
          <a:xfrm>
            <a:off x="3664892" y="3510410"/>
            <a:ext cx="76200" cy="1018382"/>
          </a:xfrm>
          <a:prstGeom prst="roundRect">
            <a:avLst>
              <a:gd name="adj" fmla="val 33494"/>
            </a:avLst>
          </a:prstGeom>
          <a:solidFill>
            <a:srgbClr val="C00000"/>
          </a:solidFill>
          <a:ln/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F1583A3-3ED1-F98B-C88B-06BBF34EDE18}"/>
              </a:ext>
            </a:extLst>
          </p:cNvPr>
          <p:cNvSpPr/>
          <p:nvPr/>
        </p:nvSpPr>
        <p:spPr>
          <a:xfrm>
            <a:off x="3930203" y="3699521"/>
            <a:ext cx="2126853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20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Complex Portals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68373313-ED4C-07FA-F21B-BCA97F339F8A}"/>
              </a:ext>
            </a:extLst>
          </p:cNvPr>
          <p:cNvSpPr/>
          <p:nvPr/>
        </p:nvSpPr>
        <p:spPr>
          <a:xfrm>
            <a:off x="3930203" y="4067424"/>
            <a:ext cx="4980087" cy="272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Official sources are hard to navigate and understand.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00407D78-8805-C239-E30C-C02C53FB746B}"/>
              </a:ext>
            </a:extLst>
          </p:cNvPr>
          <p:cNvSpPr/>
          <p:nvPr/>
        </p:nvSpPr>
        <p:spPr>
          <a:xfrm>
            <a:off x="5115316" y="4839669"/>
            <a:ext cx="5415458" cy="1018382"/>
          </a:xfrm>
          <a:prstGeom prst="roundRect">
            <a:avLst>
              <a:gd name="adj" fmla="val 8979"/>
            </a:avLst>
          </a:prstGeom>
          <a:solidFill>
            <a:schemeClr val="accent2">
              <a:lumMod val="60000"/>
              <a:lumOff val="40000"/>
            </a:scheme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526D7484-14BD-74DD-730B-FC9B9953802E}"/>
              </a:ext>
            </a:extLst>
          </p:cNvPr>
          <p:cNvSpPr/>
          <p:nvPr/>
        </p:nvSpPr>
        <p:spPr>
          <a:xfrm>
            <a:off x="5096266" y="4839669"/>
            <a:ext cx="76200" cy="1018382"/>
          </a:xfrm>
          <a:prstGeom prst="roundRect">
            <a:avLst>
              <a:gd name="adj" fmla="val 33494"/>
            </a:avLst>
          </a:prstGeom>
          <a:solidFill>
            <a:srgbClr val="C00000"/>
          </a:solidFill>
          <a:ln/>
        </p:spPr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A79FBD9B-D3C8-3C91-FB07-CEC5B510367F}"/>
              </a:ext>
            </a:extLst>
          </p:cNvPr>
          <p:cNvSpPr/>
          <p:nvPr/>
        </p:nvSpPr>
        <p:spPr>
          <a:xfrm>
            <a:off x="5361577" y="5028780"/>
            <a:ext cx="2126853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20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Lack of Clarity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14195769-D737-1508-6D74-5498F324F857}"/>
              </a:ext>
            </a:extLst>
          </p:cNvPr>
          <p:cNvSpPr/>
          <p:nvPr/>
        </p:nvSpPr>
        <p:spPr>
          <a:xfrm>
            <a:off x="5361576" y="5386676"/>
            <a:ext cx="4980087" cy="272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Citizens unclear on leader roles, responsibilities, and limits.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1C1208E9-89FA-9152-CAB7-882710E706FF}"/>
              </a:ext>
            </a:extLst>
          </p:cNvPr>
          <p:cNvSpPr/>
          <p:nvPr/>
        </p:nvSpPr>
        <p:spPr>
          <a:xfrm>
            <a:off x="6420246" y="6168928"/>
            <a:ext cx="6024465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67"/>
              </a:lnSpc>
            </a:pPr>
            <a:r>
              <a:rPr lang="en-US" sz="2000" b="1" dirty="0"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Result: Misinformation and low civic awareness.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53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31974244-F983-644F-85DD-3E462AB374B1}"/>
              </a:ext>
            </a:extLst>
          </p:cNvPr>
          <p:cNvSpPr/>
          <p:nvPr/>
        </p:nvSpPr>
        <p:spPr>
          <a:xfrm>
            <a:off x="188845" y="193072"/>
            <a:ext cx="2684983" cy="665283"/>
          </a:xfrm>
          <a:prstGeom prst="roundRect">
            <a:avLst>
              <a:gd name="adj" fmla="val 6134"/>
            </a:avLst>
          </a:prstGeom>
          <a:noFill/>
          <a:ln w="7620">
            <a:solidFill>
              <a:schemeClr val="accent2"/>
            </a:solidFill>
            <a:prstDash val="solid"/>
          </a:ln>
        </p:spPr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3F0775E1-392F-2B17-004B-1C50DA17C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509" y="242089"/>
            <a:ext cx="616266" cy="616266"/>
          </a:xfrm>
          <a:prstGeom prst="rect">
            <a:avLst/>
          </a:prstGeom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7F14DF5D-2BE8-6516-25C0-D8709875F43C}"/>
              </a:ext>
            </a:extLst>
          </p:cNvPr>
          <p:cNvSpPr/>
          <p:nvPr/>
        </p:nvSpPr>
        <p:spPr>
          <a:xfrm>
            <a:off x="1045084" y="458384"/>
            <a:ext cx="1610405" cy="496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OUR MISSION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Georgia Pro Light" panose="02040302050405020303" pitchFamily="18" charset="0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8B3346EC-F784-7D85-9170-7F9F54B7E82F}"/>
              </a:ext>
            </a:extLst>
          </p:cNvPr>
          <p:cNvSpPr/>
          <p:nvPr/>
        </p:nvSpPr>
        <p:spPr>
          <a:xfrm>
            <a:off x="188845" y="1163281"/>
            <a:ext cx="9244404" cy="61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US" sz="2800" dirty="0">
                <a:solidFill>
                  <a:srgbClr val="030303"/>
                </a:solidFill>
                <a:latin typeface="DM Sans Semi Bold" panose="020B0604020202020204" charset="0"/>
                <a:ea typeface="DM Sans Semi Bold" pitchFamily="34" charset="-122"/>
                <a:cs typeface="DM Sans Semi Bold" pitchFamily="34" charset="-120"/>
              </a:rPr>
              <a:t>Promoting Civic Literacy and Transparency</a:t>
            </a:r>
            <a:endParaRPr lang="en-US" sz="2800" dirty="0">
              <a:latin typeface="DM Sans Semi Bold" panose="020B0604020202020204" charset="0"/>
            </a:endParaRP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0AD43A23-5424-7952-02D9-252057FBF995}"/>
              </a:ext>
            </a:extLst>
          </p:cNvPr>
          <p:cNvSpPr/>
          <p:nvPr/>
        </p:nvSpPr>
        <p:spPr>
          <a:xfrm>
            <a:off x="2205076" y="2058305"/>
            <a:ext cx="3156943" cy="1724422"/>
          </a:xfrm>
          <a:prstGeom prst="roundRect">
            <a:avLst>
              <a:gd name="adj" fmla="val 142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F23B2048-709B-525B-7D77-D47AB7BCF21F}"/>
              </a:ext>
            </a:extLst>
          </p:cNvPr>
          <p:cNvSpPr/>
          <p:nvPr/>
        </p:nvSpPr>
        <p:spPr>
          <a:xfrm>
            <a:off x="2368291" y="2221520"/>
            <a:ext cx="2637929" cy="2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Enhanced Civic Awareness</a:t>
            </a:r>
            <a:endParaRPr lang="en-US" sz="1600" b="1" dirty="0">
              <a:latin typeface="Georgia Pro Light" panose="02040302050405020303" pitchFamily="18" charset="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9FF83306-6DE4-61D7-A08C-D8D144F600FD}"/>
              </a:ext>
            </a:extLst>
          </p:cNvPr>
          <p:cNvSpPr/>
          <p:nvPr/>
        </p:nvSpPr>
        <p:spPr>
          <a:xfrm>
            <a:off x="2368291" y="2574540"/>
            <a:ext cx="2830513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4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To empower citizens with accessible, verified information, fostering a deeper understanding of democratic processes.</a:t>
            </a:r>
            <a:endParaRPr lang="en-US" sz="1400" dirty="0">
              <a:latin typeface="Georgia Pro Light" panose="02040302050405020303" pitchFamily="18" charset="0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5FE8778E-9E6D-8D05-73DA-BB45F0194801}"/>
              </a:ext>
            </a:extLst>
          </p:cNvPr>
          <p:cNvSpPr/>
          <p:nvPr/>
        </p:nvSpPr>
        <p:spPr>
          <a:xfrm>
            <a:off x="5718181" y="2043741"/>
            <a:ext cx="3157042" cy="1724422"/>
          </a:xfrm>
          <a:prstGeom prst="roundRect">
            <a:avLst>
              <a:gd name="adj" fmla="val 142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C93E5A8C-8851-B261-32E2-20AE7BE205F2}"/>
              </a:ext>
            </a:extLst>
          </p:cNvPr>
          <p:cNvSpPr/>
          <p:nvPr/>
        </p:nvSpPr>
        <p:spPr>
          <a:xfrm>
            <a:off x="5881397" y="2206956"/>
            <a:ext cx="2819400" cy="2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Transparency in Governance</a:t>
            </a:r>
            <a:endParaRPr lang="en-US" sz="1600" b="1" dirty="0">
              <a:latin typeface="Georgia Pro Light" panose="02040302050405020303" pitchFamily="18" charset="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39A9A0A0-46C7-0E11-6ADC-412BBE4AB559}"/>
              </a:ext>
            </a:extLst>
          </p:cNvPr>
          <p:cNvSpPr/>
          <p:nvPr/>
        </p:nvSpPr>
        <p:spPr>
          <a:xfrm>
            <a:off x="5881396" y="2559976"/>
            <a:ext cx="2830612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4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To illuminate the functions of public office and the responsibilities of elected representatives within defined public roles.</a:t>
            </a:r>
            <a:endParaRPr lang="en-US" sz="1400" dirty="0">
              <a:latin typeface="Georgia Pro Light" panose="02040302050405020303" pitchFamily="18" charset="0"/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D80633B0-1C9E-9498-F89C-4E4990D98CE6}"/>
              </a:ext>
            </a:extLst>
          </p:cNvPr>
          <p:cNvSpPr/>
          <p:nvPr/>
        </p:nvSpPr>
        <p:spPr>
          <a:xfrm>
            <a:off x="3480374" y="4094593"/>
            <a:ext cx="6477198" cy="1201936"/>
          </a:xfrm>
          <a:prstGeom prst="roundRect">
            <a:avLst>
              <a:gd name="adj" fmla="val 2038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E830418A-33A5-65AB-1EE9-70D214CB87D9}"/>
              </a:ext>
            </a:extLst>
          </p:cNvPr>
          <p:cNvSpPr/>
          <p:nvPr/>
        </p:nvSpPr>
        <p:spPr>
          <a:xfrm>
            <a:off x="3643589" y="4257808"/>
            <a:ext cx="2648545" cy="2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Fact-Based Understanding</a:t>
            </a:r>
            <a:endParaRPr lang="en-US" b="1" dirty="0">
              <a:latin typeface="Georgia Pro Light" panose="02040302050405020303" pitchFamily="18" charset="0"/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7A3DC768-7B41-FD52-9459-D98FF6E793CE}"/>
              </a:ext>
            </a:extLst>
          </p:cNvPr>
          <p:cNvSpPr/>
          <p:nvPr/>
        </p:nvSpPr>
        <p:spPr>
          <a:xfrm>
            <a:off x="3643589" y="4610828"/>
            <a:ext cx="615076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4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To present only factual data, official records, and responsibilities, strictly avoiding opinions or subjective judgments.</a:t>
            </a:r>
            <a:endParaRPr lang="en-US" sz="1400" dirty="0">
              <a:latin typeface="Georgia Pro Light" panose="02040302050405020303" pitchFamily="18" charset="0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3CDEC151-4100-F1CC-75FC-A954E9AB6DBE}"/>
              </a:ext>
            </a:extLst>
          </p:cNvPr>
          <p:cNvSpPr/>
          <p:nvPr/>
        </p:nvSpPr>
        <p:spPr>
          <a:xfrm>
            <a:off x="3023173" y="5773693"/>
            <a:ext cx="7632386" cy="255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LokKartavya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emphasizes public service and accountability over political personalities.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617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030EA69B-7DDA-2191-5D4D-916E4A7825DC}"/>
              </a:ext>
            </a:extLst>
          </p:cNvPr>
          <p:cNvSpPr/>
          <p:nvPr/>
        </p:nvSpPr>
        <p:spPr>
          <a:xfrm>
            <a:off x="188845" y="1063662"/>
            <a:ext cx="8325235" cy="42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800" dirty="0">
                <a:solidFill>
                  <a:srgbClr val="030303"/>
                </a:solidFill>
                <a:latin typeface="DM Sans Semi Bold" panose="020B0604020202020204" charset="0"/>
                <a:ea typeface="DM Sans Semi Bold" pitchFamily="34" charset="-122"/>
                <a:cs typeface="DM Sans Semi Bold" pitchFamily="34" charset="-120"/>
              </a:rPr>
              <a:t>Introducing </a:t>
            </a:r>
            <a:r>
              <a:rPr lang="en-IN" sz="2800" dirty="0">
                <a:latin typeface="DM Sans Semi Bold" panose="020B0604020202020204" charset="0"/>
              </a:rPr>
              <a:t>LokKartavya</a:t>
            </a:r>
            <a:r>
              <a:rPr lang="en-IN" sz="2800" dirty="0">
                <a:solidFill>
                  <a:schemeClr val="accent2">
                    <a:lumMod val="75000"/>
                  </a:schemeClr>
                </a:solidFill>
                <a:latin typeface="DM Sans Semi Bold" panose="020B0604020202020204" charset="0"/>
              </a:rPr>
              <a:t> </a:t>
            </a:r>
            <a:r>
              <a:rPr lang="en-US" sz="2800" dirty="0">
                <a:solidFill>
                  <a:srgbClr val="030303"/>
                </a:solidFill>
                <a:latin typeface="DM Sans Semi Bold" panose="020B0604020202020204" charset="0"/>
                <a:ea typeface="DM Sans Semi Bold" pitchFamily="34" charset="-122"/>
                <a:cs typeface="DM Sans Semi Bold" pitchFamily="34" charset="-120"/>
              </a:rPr>
              <a:t>: Your Mobile Civic Guide</a:t>
            </a:r>
            <a:endParaRPr lang="en-US" sz="2800" dirty="0">
              <a:latin typeface="DM Sans Semi Bold" panose="020B0604020202020204" charset="0"/>
            </a:endParaRP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3A083125-9FD9-4867-292C-217F23C555B6}"/>
              </a:ext>
            </a:extLst>
          </p:cNvPr>
          <p:cNvSpPr/>
          <p:nvPr/>
        </p:nvSpPr>
        <p:spPr>
          <a:xfrm>
            <a:off x="188845" y="193072"/>
            <a:ext cx="2684983" cy="665283"/>
          </a:xfrm>
          <a:prstGeom prst="roundRect">
            <a:avLst>
              <a:gd name="adj" fmla="val 6134"/>
            </a:avLst>
          </a:prstGeom>
          <a:noFill/>
          <a:ln w="7620">
            <a:solidFill>
              <a:schemeClr val="accent2"/>
            </a:solidFill>
            <a:prstDash val="solid"/>
          </a:ln>
        </p:spPr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2AB771C2-D4A7-858A-4F72-3E0F7126A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509" y="242089"/>
            <a:ext cx="616266" cy="616266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BC4E5220-BC01-8054-DFFD-5CA95DA9768D}"/>
              </a:ext>
            </a:extLst>
          </p:cNvPr>
          <p:cNvSpPr/>
          <p:nvPr/>
        </p:nvSpPr>
        <p:spPr>
          <a:xfrm>
            <a:off x="1045084" y="458384"/>
            <a:ext cx="1610405" cy="496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Georgia Pro Light" panose="02040302050405020303" pitchFamily="18" charset="0"/>
              </a:rPr>
              <a:t>The Solution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211AB93-D76D-B2C8-F90F-DBAD924780B4}"/>
              </a:ext>
            </a:extLst>
          </p:cNvPr>
          <p:cNvGrpSpPr/>
          <p:nvPr/>
        </p:nvGrpSpPr>
        <p:grpSpPr>
          <a:xfrm>
            <a:off x="7767768" y="1772135"/>
            <a:ext cx="5282678" cy="5107571"/>
            <a:chOff x="1613196" y="1820094"/>
            <a:chExt cx="4041155" cy="4041155"/>
          </a:xfrm>
        </p:grpSpPr>
        <p:pic>
          <p:nvPicPr>
            <p:cNvPr id="6" name="Image 0" descr="preencoded.png">
              <a:extLst>
                <a:ext uri="{FF2B5EF4-FFF2-40B4-BE49-F238E27FC236}">
                  <a16:creationId xmlns:a16="http://schemas.microsoft.com/office/drawing/2014/main" id="{FB44C046-E9EC-5C06-90C2-0FA86BA65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9737" l="10000" r="92211">
                          <a14:foregroundMark x1="82579" y1="88895" x2="61947" y2="88789"/>
                          <a14:foregroundMark x1="61947" y1="88789" x2="79263" y2="96632"/>
                          <a14:foregroundMark x1="79263" y1="96632" x2="94474" y2="96526"/>
                          <a14:foregroundMark x1="94474" y1="96526" x2="82684" y2="91474"/>
                          <a14:foregroundMark x1="82684" y1="91474" x2="74737" y2="92368"/>
                          <a14:foregroundMark x1="65842" y1="90737" x2="77737" y2="99579"/>
                          <a14:foregroundMark x1="77737" y1="99579" x2="92211" y2="99737"/>
                          <a14:foregroundMark x1="92211" y1="99737" x2="70316" y2="91947"/>
                          <a14:foregroundMark x1="70316" y1="91947" x2="63421" y2="9194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13196" y="1820094"/>
              <a:ext cx="4041155" cy="404115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9F8438A-77EA-4C12-1243-97477DC5E53C}"/>
                </a:ext>
              </a:extLst>
            </p:cNvPr>
            <p:cNvSpPr/>
            <p:nvPr/>
          </p:nvSpPr>
          <p:spPr>
            <a:xfrm>
              <a:off x="2980944" y="2954090"/>
              <a:ext cx="774192" cy="188976"/>
            </a:xfrm>
            <a:custGeom>
              <a:avLst/>
              <a:gdLst>
                <a:gd name="csX0" fmla="*/ 0 w 755904"/>
                <a:gd name="csY0" fmla="*/ 0 h 85344"/>
                <a:gd name="csX1" fmla="*/ 755904 w 755904"/>
                <a:gd name="csY1" fmla="*/ 0 h 85344"/>
                <a:gd name="csX2" fmla="*/ 755904 w 755904"/>
                <a:gd name="csY2" fmla="*/ 85344 h 85344"/>
                <a:gd name="csX3" fmla="*/ 0 w 755904"/>
                <a:gd name="csY3" fmla="*/ 85344 h 85344"/>
                <a:gd name="csX4" fmla="*/ 0 w 755904"/>
                <a:gd name="csY4" fmla="*/ 0 h 85344"/>
                <a:gd name="csX0" fmla="*/ 0 w 755904"/>
                <a:gd name="csY0" fmla="*/ 67056 h 152400"/>
                <a:gd name="csX1" fmla="*/ 755904 w 755904"/>
                <a:gd name="csY1" fmla="*/ 0 h 152400"/>
                <a:gd name="csX2" fmla="*/ 755904 w 755904"/>
                <a:gd name="csY2" fmla="*/ 152400 h 152400"/>
                <a:gd name="csX3" fmla="*/ 0 w 755904"/>
                <a:gd name="csY3" fmla="*/ 152400 h 152400"/>
                <a:gd name="csX4" fmla="*/ 0 w 755904"/>
                <a:gd name="csY4" fmla="*/ 67056 h 152400"/>
                <a:gd name="csX0" fmla="*/ 0 w 780288"/>
                <a:gd name="csY0" fmla="*/ 67056 h 152400"/>
                <a:gd name="csX1" fmla="*/ 755904 w 780288"/>
                <a:gd name="csY1" fmla="*/ 0 h 152400"/>
                <a:gd name="csX2" fmla="*/ 780288 w 780288"/>
                <a:gd name="csY2" fmla="*/ 128016 h 152400"/>
                <a:gd name="csX3" fmla="*/ 0 w 780288"/>
                <a:gd name="csY3" fmla="*/ 152400 h 152400"/>
                <a:gd name="csX4" fmla="*/ 0 w 780288"/>
                <a:gd name="csY4" fmla="*/ 67056 h 152400"/>
                <a:gd name="csX0" fmla="*/ 0 w 774192"/>
                <a:gd name="csY0" fmla="*/ 67056 h 152400"/>
                <a:gd name="csX1" fmla="*/ 755904 w 774192"/>
                <a:gd name="csY1" fmla="*/ 0 h 152400"/>
                <a:gd name="csX2" fmla="*/ 774192 w 774192"/>
                <a:gd name="csY2" fmla="*/ 97536 h 152400"/>
                <a:gd name="csX3" fmla="*/ 0 w 774192"/>
                <a:gd name="csY3" fmla="*/ 152400 h 152400"/>
                <a:gd name="csX4" fmla="*/ 0 w 774192"/>
                <a:gd name="csY4" fmla="*/ 67056 h 152400"/>
                <a:gd name="csX0" fmla="*/ 0 w 774192"/>
                <a:gd name="csY0" fmla="*/ 67056 h 188976"/>
                <a:gd name="csX1" fmla="*/ 755904 w 774192"/>
                <a:gd name="csY1" fmla="*/ 0 h 188976"/>
                <a:gd name="csX2" fmla="*/ 774192 w 774192"/>
                <a:gd name="csY2" fmla="*/ 97536 h 188976"/>
                <a:gd name="csX3" fmla="*/ 0 w 774192"/>
                <a:gd name="csY3" fmla="*/ 188976 h 188976"/>
                <a:gd name="csX4" fmla="*/ 0 w 774192"/>
                <a:gd name="csY4" fmla="*/ 67056 h 1889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4192" h="188976">
                  <a:moveTo>
                    <a:pt x="0" y="67056"/>
                  </a:moveTo>
                  <a:lnTo>
                    <a:pt x="755904" y="0"/>
                  </a:lnTo>
                  <a:lnTo>
                    <a:pt x="774192" y="97536"/>
                  </a:lnTo>
                  <a:lnTo>
                    <a:pt x="0" y="188976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7084BF1-3218-68B3-9E7B-55157CD8EB3C}"/>
              </a:ext>
            </a:extLst>
          </p:cNvPr>
          <p:cNvSpPr txBox="1"/>
          <p:nvPr/>
        </p:nvSpPr>
        <p:spPr>
          <a:xfrm>
            <a:off x="3134360" y="2434397"/>
            <a:ext cx="60655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Georgia Pro Light" panose="020403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Georgia Pro Light" panose="02040302050405020303" pitchFamily="18" charset="0"/>
              </a:rPr>
              <a:t>Verified Profiles:</a:t>
            </a:r>
            <a:r>
              <a:rPr lang="en-US" dirty="0">
                <a:latin typeface="Georgia Pro Light" panose="02040302050405020303" pitchFamily="18" charset="0"/>
              </a:rPr>
              <a:t> Fact-based insights into public leaders.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Georgia Pro Light" panose="020403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Georgia Pro Light" panose="02040302050405020303" pitchFamily="18" charset="0"/>
              </a:rPr>
              <a:t>Role Explainers:</a:t>
            </a:r>
            <a:r>
              <a:rPr lang="en-US" dirty="0">
                <a:latin typeface="Georgia Pro Light" panose="02040302050405020303" pitchFamily="18" charset="0"/>
              </a:rPr>
              <a:t> Clear definitions of public office responsibilities.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Georgia Pro Light" panose="020403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Georgia Pro Light" panose="02040302050405020303" pitchFamily="18" charset="0"/>
              </a:rPr>
              <a:t>Official Records:</a:t>
            </a:r>
            <a:r>
              <a:rPr lang="en-US" dirty="0">
                <a:latin typeface="Georgia Pro Light" panose="02040302050405020303" pitchFamily="18" charset="0"/>
              </a:rPr>
              <a:t> Access to public data and historical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Georgia Pro Light" panose="020403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Georgia Pro Light" panose="02040302050405020303" pitchFamily="18" charset="0"/>
              </a:rPr>
              <a:t>Strict Neutrality:</a:t>
            </a:r>
            <a:r>
              <a:rPr lang="en-US" dirty="0">
                <a:latin typeface="Georgia Pro Light" panose="02040302050405020303" pitchFamily="18" charset="0"/>
              </a:rPr>
              <a:t> An unwavering commitment to political impartiality.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pPr algn="ctr"/>
            <a:r>
              <a:rPr lang="en-US" dirty="0">
                <a:latin typeface="Georgia Pro Light" panose="02040302050405020303" pitchFamily="18" charset="0"/>
              </a:rPr>
              <a:t>The app serves as a purely informational and educational resource.</a:t>
            </a:r>
          </a:p>
          <a:p>
            <a:endParaRPr lang="en-IN" dirty="0">
              <a:latin typeface="Georgia Pro Light" panose="020403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4FF844-C0F2-8724-88E1-7C9150CC3E48}"/>
              </a:ext>
            </a:extLst>
          </p:cNvPr>
          <p:cNvSpPr txBox="1"/>
          <p:nvPr/>
        </p:nvSpPr>
        <p:spPr>
          <a:xfrm>
            <a:off x="2082800" y="1655171"/>
            <a:ext cx="695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eorgia Pro Light" panose="02040302050405020303" pitchFamily="18" charset="0"/>
              </a:rPr>
              <a:t>LokKartavya</a:t>
            </a:r>
            <a:r>
              <a:rPr lang="en-US" dirty="0">
                <a:latin typeface="Georgia Pro Light" panose="02040302050405020303" pitchFamily="18" charset="0"/>
              </a:rPr>
              <a:t> is a specialized mobile application designed to bridge the gap between citizens and their government by providing unbiased, verifiable public information.</a:t>
            </a:r>
          </a:p>
        </p:txBody>
      </p:sp>
    </p:spTree>
    <p:extLst>
      <p:ext uri="{BB962C8B-B14F-4D97-AF65-F5344CB8AC3E}">
        <p14:creationId xmlns:p14="http://schemas.microsoft.com/office/powerpoint/2010/main" val="205368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">
            <a:extLst>
              <a:ext uri="{FF2B5EF4-FFF2-40B4-BE49-F238E27FC236}">
                <a16:creationId xmlns:a16="http://schemas.microsoft.com/office/drawing/2014/main" id="{7A7B4CD0-E86D-091E-D7A5-C4E412A8BDF4}"/>
              </a:ext>
            </a:extLst>
          </p:cNvPr>
          <p:cNvSpPr/>
          <p:nvPr/>
        </p:nvSpPr>
        <p:spPr>
          <a:xfrm>
            <a:off x="812611" y="1698171"/>
            <a:ext cx="10566778" cy="4701445"/>
          </a:xfrm>
          <a:prstGeom prst="roundRect">
            <a:avLst>
              <a:gd name="adj" fmla="val 8979"/>
            </a:avLst>
          </a:prstGeom>
          <a:solidFill>
            <a:schemeClr val="accent2">
              <a:lumMod val="20000"/>
              <a:lumOff val="80000"/>
            </a:scheme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A70D601-3EFF-8C4D-6B6F-9D69FDB76776}"/>
              </a:ext>
            </a:extLst>
          </p:cNvPr>
          <p:cNvSpPr/>
          <p:nvPr/>
        </p:nvSpPr>
        <p:spPr>
          <a:xfrm>
            <a:off x="188845" y="891989"/>
            <a:ext cx="886350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200" dirty="0">
                <a:solidFill>
                  <a:srgbClr val="030303"/>
                </a:solidFill>
                <a:latin typeface="DM Sans Semi Bold" panose="020B0604020202020204" charset="0"/>
                <a:ea typeface="DM Sans Semi Bold" pitchFamily="34" charset="-122"/>
                <a:cs typeface="DM Sans Semi Bold" pitchFamily="34" charset="-120"/>
              </a:rPr>
              <a:t>Key Functionalities of </a:t>
            </a:r>
            <a:r>
              <a:rPr lang="en-IN" sz="3200" dirty="0">
                <a:latin typeface="DM Sans Semi Bold" panose="020B0604020202020204" charset="0"/>
              </a:rPr>
              <a:t>LokKartavya</a:t>
            </a:r>
            <a:r>
              <a:rPr lang="en-IN" sz="3200" dirty="0">
                <a:solidFill>
                  <a:schemeClr val="accent2">
                    <a:lumMod val="75000"/>
                  </a:schemeClr>
                </a:solidFill>
                <a:latin typeface="DM Sans Semi Bold" panose="020B0604020202020204" charset="0"/>
              </a:rPr>
              <a:t> </a:t>
            </a:r>
            <a:endParaRPr lang="en-US" sz="3200" dirty="0">
              <a:latin typeface="DM Sans Semi Bold" panose="020B0604020202020204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3393E82-7CB5-2AF5-0C3F-6A520DEC1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81" y="2158649"/>
            <a:ext cx="567035" cy="567035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8D406E2B-7FFD-C077-B6EE-CE644588D7CE}"/>
              </a:ext>
            </a:extLst>
          </p:cNvPr>
          <p:cNvSpPr/>
          <p:nvPr/>
        </p:nvSpPr>
        <p:spPr>
          <a:xfrm>
            <a:off x="1815855" y="200793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Leader Profiles</a:t>
            </a:r>
            <a:endParaRPr lang="en-US" sz="1833" b="1" dirty="0">
              <a:latin typeface="Georgia Pro Light" panose="02040302050405020303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E9A47B2-A11D-5EE5-59C0-DFD6429D1D7B}"/>
              </a:ext>
            </a:extLst>
          </p:cNvPr>
          <p:cNvSpPr/>
          <p:nvPr/>
        </p:nvSpPr>
        <p:spPr>
          <a:xfrm>
            <a:off x="1815855" y="2416615"/>
            <a:ext cx="45130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Factual background information on elected representatives.</a:t>
            </a:r>
            <a:endParaRPr lang="en-US" sz="1458" dirty="0">
              <a:latin typeface="Georgia Pro Light" panose="02040302050405020303" pitchFamily="18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CC53AFB9-DA3F-BEB6-06D5-722F3F8CAD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5159" y="2158649"/>
            <a:ext cx="567035" cy="567035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484CD3C0-82B2-696E-BE8E-CB31946C2D75}"/>
              </a:ext>
            </a:extLst>
          </p:cNvPr>
          <p:cNvSpPr/>
          <p:nvPr/>
        </p:nvSpPr>
        <p:spPr>
          <a:xfrm>
            <a:off x="7368434" y="2011011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Role Explanations</a:t>
            </a:r>
            <a:endParaRPr lang="en-US" sz="1833" b="1" dirty="0">
              <a:latin typeface="Georgia Pro Light" panose="02040302050405020303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9C4B00F-2CF2-C936-2860-51AEF53D4EB0}"/>
              </a:ext>
            </a:extLst>
          </p:cNvPr>
          <p:cNvSpPr/>
          <p:nvPr/>
        </p:nvSpPr>
        <p:spPr>
          <a:xfrm>
            <a:off x="7368434" y="2419692"/>
            <a:ext cx="451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Detailed breakdown of public office duties and limitations.</a:t>
            </a:r>
            <a:endParaRPr lang="en-US" sz="1458" dirty="0">
              <a:latin typeface="Georgia Pro Light" panose="02040302050405020303" pitchFamily="18" charset="0"/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6E605563-F146-F0B7-A733-85E9F20273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581" y="3709637"/>
            <a:ext cx="567035" cy="567035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31381C90-A3F0-B3C0-5895-FCDC5BDE91FE}"/>
              </a:ext>
            </a:extLst>
          </p:cNvPr>
          <p:cNvSpPr/>
          <p:nvPr/>
        </p:nvSpPr>
        <p:spPr>
          <a:xfrm>
            <a:off x="1815855" y="3558921"/>
            <a:ext cx="24252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Commitment Tracker</a:t>
            </a:r>
            <a:endParaRPr lang="en-US" sz="1833" b="1" dirty="0">
              <a:latin typeface="Georgia Pro Light" panose="02040302050405020303" pitchFamily="18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0C7ACD3-2B8B-DF62-BD7D-43929B4EFAD4}"/>
              </a:ext>
            </a:extLst>
          </p:cNvPr>
          <p:cNvSpPr/>
          <p:nvPr/>
        </p:nvSpPr>
        <p:spPr>
          <a:xfrm>
            <a:off x="1815855" y="3967603"/>
            <a:ext cx="45130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Monitor the status of officially announced public commitments.</a:t>
            </a:r>
            <a:endParaRPr lang="en-US" sz="1458" dirty="0">
              <a:latin typeface="Georgia Pro Light" panose="02040302050405020303" pitchFamily="18" charset="0"/>
            </a:endParaRPr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E5E442B1-B0F4-D3C6-0B50-B57EB15952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5159" y="3709637"/>
            <a:ext cx="567035" cy="567035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AF727DA7-E5C3-5DE6-A8C2-712FE10152F1}"/>
              </a:ext>
            </a:extLst>
          </p:cNvPr>
          <p:cNvSpPr/>
          <p:nvPr/>
        </p:nvSpPr>
        <p:spPr>
          <a:xfrm>
            <a:off x="7368434" y="3561998"/>
            <a:ext cx="250765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Expenditure Overview</a:t>
            </a:r>
            <a:endParaRPr lang="en-US" sz="1833" b="1" dirty="0">
              <a:latin typeface="Georgia Pro Light" panose="02040302050405020303" pitchFamily="18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93BD220F-367D-53D7-AC44-864AF53E5919}"/>
              </a:ext>
            </a:extLst>
          </p:cNvPr>
          <p:cNvSpPr/>
          <p:nvPr/>
        </p:nvSpPr>
        <p:spPr>
          <a:xfrm>
            <a:off x="7368434" y="3970680"/>
            <a:ext cx="451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Transparent display of public budget allocations.</a:t>
            </a:r>
            <a:endParaRPr lang="en-US" sz="1458" dirty="0">
              <a:latin typeface="Georgia Pro Light" panose="02040302050405020303" pitchFamily="18" charset="0"/>
            </a:endParaRPr>
          </a:p>
        </p:txBody>
      </p:sp>
      <p:pic>
        <p:nvPicPr>
          <p:cNvPr id="18" name="Image 4" descr="preencoded.png">
            <a:extLst>
              <a:ext uri="{FF2B5EF4-FFF2-40B4-BE49-F238E27FC236}">
                <a16:creationId xmlns:a16="http://schemas.microsoft.com/office/drawing/2014/main" id="{A5266BED-E975-1151-9C6A-A4AD525B60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2581" y="5260624"/>
            <a:ext cx="567035" cy="567035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B4A61C7F-9DDC-33B7-837E-CA8408367F41}"/>
              </a:ext>
            </a:extLst>
          </p:cNvPr>
          <p:cNvSpPr/>
          <p:nvPr/>
        </p:nvSpPr>
        <p:spPr>
          <a:xfrm>
            <a:off x="1815855" y="5109909"/>
            <a:ext cx="238621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Civic Issue Reporting</a:t>
            </a:r>
            <a:endParaRPr lang="en-US" sz="1833" b="1" dirty="0">
              <a:latin typeface="Georgia Pro Light" panose="02040302050405020303" pitchFamily="18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BDFE8E7F-7B1B-E204-C4A1-BBE48504B256}"/>
              </a:ext>
            </a:extLst>
          </p:cNvPr>
          <p:cNvSpPr/>
          <p:nvPr/>
        </p:nvSpPr>
        <p:spPr>
          <a:xfrm>
            <a:off x="1815855" y="5518590"/>
            <a:ext cx="45130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Geo-tagged, image-based documentation of community issues.</a:t>
            </a:r>
            <a:endParaRPr lang="en-US" sz="1458" dirty="0">
              <a:latin typeface="Georgia Pro Light" panose="02040302050405020303" pitchFamily="18" charset="0"/>
            </a:endParaRPr>
          </a:p>
        </p:txBody>
      </p:sp>
      <p:pic>
        <p:nvPicPr>
          <p:cNvPr id="21" name="Image 5" descr="preencoded.png">
            <a:extLst>
              <a:ext uri="{FF2B5EF4-FFF2-40B4-BE49-F238E27FC236}">
                <a16:creationId xmlns:a16="http://schemas.microsoft.com/office/drawing/2014/main" id="{EE4A4F31-3CC3-90F9-9093-6C0EFDBAE9A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65159" y="5260624"/>
            <a:ext cx="567035" cy="567035"/>
          </a:xfrm>
          <a:prstGeom prst="rect">
            <a:avLst/>
          </a:prstGeom>
        </p:spPr>
      </p:pic>
      <p:sp>
        <p:nvSpPr>
          <p:cNvPr id="22" name="Text 13">
            <a:extLst>
              <a:ext uri="{FF2B5EF4-FFF2-40B4-BE49-F238E27FC236}">
                <a16:creationId xmlns:a16="http://schemas.microsoft.com/office/drawing/2014/main" id="{5C90729B-7C23-F2BA-C56B-E7FD4A56E1F4}"/>
              </a:ext>
            </a:extLst>
          </p:cNvPr>
          <p:cNvSpPr/>
          <p:nvPr/>
        </p:nvSpPr>
        <p:spPr>
          <a:xfrm>
            <a:off x="7368434" y="5112986"/>
            <a:ext cx="24197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Source Transparency</a:t>
            </a:r>
            <a:endParaRPr lang="en-US" sz="1833" b="1" dirty="0">
              <a:latin typeface="Georgia Pro Light" panose="02040302050405020303" pitchFamily="18" charset="0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E17FCD2E-027D-238B-CB20-FE4AAB6DDD50}"/>
              </a:ext>
            </a:extLst>
          </p:cNvPr>
          <p:cNvSpPr/>
          <p:nvPr/>
        </p:nvSpPr>
        <p:spPr>
          <a:xfrm>
            <a:off x="7368434" y="5521667"/>
            <a:ext cx="451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Direct links to verified public data sources for all information.</a:t>
            </a:r>
            <a:endParaRPr lang="en-US" sz="1458" dirty="0">
              <a:latin typeface="Georgia Pro Light" panose="02040302050405020303" pitchFamily="18" charset="0"/>
            </a:endParaRPr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89135629-B432-5EEB-9B0E-12A0BD7F9EC8}"/>
              </a:ext>
            </a:extLst>
          </p:cNvPr>
          <p:cNvSpPr/>
          <p:nvPr/>
        </p:nvSpPr>
        <p:spPr>
          <a:xfrm>
            <a:off x="188845" y="193072"/>
            <a:ext cx="2684983" cy="665283"/>
          </a:xfrm>
          <a:prstGeom prst="roundRect">
            <a:avLst>
              <a:gd name="adj" fmla="val 6134"/>
            </a:avLst>
          </a:prstGeom>
          <a:noFill/>
          <a:ln w="7620">
            <a:solidFill>
              <a:schemeClr val="accent2"/>
            </a:solidFill>
            <a:prstDash val="solid"/>
          </a:ln>
        </p:spPr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557131CE-44AB-7217-D80E-B7F7CD24082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1509" y="242089"/>
            <a:ext cx="616266" cy="616266"/>
          </a:xfrm>
          <a:prstGeom prst="rect">
            <a:avLst/>
          </a:prstGeom>
        </p:spPr>
      </p:pic>
      <p:sp>
        <p:nvSpPr>
          <p:cNvPr id="28" name="Text 1">
            <a:extLst>
              <a:ext uri="{FF2B5EF4-FFF2-40B4-BE49-F238E27FC236}">
                <a16:creationId xmlns:a16="http://schemas.microsoft.com/office/drawing/2014/main" id="{D78E118F-E853-089F-787E-393755EB0EB8}"/>
              </a:ext>
            </a:extLst>
          </p:cNvPr>
          <p:cNvSpPr/>
          <p:nvPr/>
        </p:nvSpPr>
        <p:spPr>
          <a:xfrm>
            <a:off x="1045084" y="458384"/>
            <a:ext cx="1610405" cy="496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Georgia Pro Light" panose="02040302050405020303" pitchFamily="18" charset="0"/>
              </a:rPr>
              <a:t>Core Features</a:t>
            </a:r>
          </a:p>
        </p:txBody>
      </p:sp>
    </p:spTree>
    <p:extLst>
      <p:ext uri="{BB962C8B-B14F-4D97-AF65-F5344CB8AC3E}">
        <p14:creationId xmlns:p14="http://schemas.microsoft.com/office/powerpoint/2010/main" val="4261177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24CC360A-F5E9-5EF5-840C-20B5158295A2}"/>
              </a:ext>
            </a:extLst>
          </p:cNvPr>
          <p:cNvSpPr/>
          <p:nvPr/>
        </p:nvSpPr>
        <p:spPr>
          <a:xfrm>
            <a:off x="188845" y="193072"/>
            <a:ext cx="2981075" cy="665283"/>
          </a:xfrm>
          <a:prstGeom prst="roundRect">
            <a:avLst>
              <a:gd name="adj" fmla="val 6134"/>
            </a:avLst>
          </a:prstGeom>
          <a:noFill/>
          <a:ln w="7620">
            <a:solidFill>
              <a:schemeClr val="accent2"/>
            </a:solidFill>
            <a:prstDash val="solid"/>
          </a:ln>
        </p:spPr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B0E95025-11D9-C17C-6A4D-E9ADFC4C7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509" y="242089"/>
            <a:ext cx="616266" cy="61626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495F2886-B3BB-635C-1BDE-1AB2551795A4}"/>
              </a:ext>
            </a:extLst>
          </p:cNvPr>
          <p:cNvSpPr/>
          <p:nvPr/>
        </p:nvSpPr>
        <p:spPr>
          <a:xfrm>
            <a:off x="1045084" y="458384"/>
            <a:ext cx="1610405" cy="496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Georgia Pro Light" panose="02040302050405020303" pitchFamily="18" charset="0"/>
              </a:rPr>
              <a:t>Feature Deep Dive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DA3520-1D7A-0ED0-FDA9-ED660DD09BAB}"/>
              </a:ext>
            </a:extLst>
          </p:cNvPr>
          <p:cNvSpPr txBox="1"/>
          <p:nvPr/>
        </p:nvSpPr>
        <p:spPr>
          <a:xfrm>
            <a:off x="188845" y="940923"/>
            <a:ext cx="6339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dirty="0">
                <a:latin typeface="DM Sans Semi Bold" panose="020B0604020202020204" charset="0"/>
              </a:rPr>
              <a:t>Leader Background Profiles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FCB6FE-550A-5534-0A1F-122B5DF85043}"/>
              </a:ext>
            </a:extLst>
          </p:cNvPr>
          <p:cNvSpPr txBox="1"/>
          <p:nvPr/>
        </p:nvSpPr>
        <p:spPr>
          <a:xfrm>
            <a:off x="3169920" y="1608266"/>
            <a:ext cx="6248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 Pro Light" panose="02040302050405020303" pitchFamily="18" charset="0"/>
              </a:rPr>
              <a:t>Name and Office Held:</a:t>
            </a:r>
            <a:r>
              <a:rPr lang="en-US" dirty="0">
                <a:latin typeface="Georgia Pro Light" panose="02040302050405020303" pitchFamily="18" charset="0"/>
              </a:rPr>
              <a:t> Clear identification of the representative and their position.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 Pro Light" panose="02040302050405020303" pitchFamily="18" charset="0"/>
              </a:rPr>
              <a:t>Term Duration:</a:t>
            </a:r>
            <a:r>
              <a:rPr lang="en-US" dirty="0">
                <a:latin typeface="Georgia Pro Light" panose="02040302050405020303" pitchFamily="18" charset="0"/>
              </a:rPr>
              <a:t> Specific start and end dates of their current term.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 Pro Light" panose="02040302050405020303" pitchFamily="18" charset="0"/>
              </a:rPr>
              <a:t>Educational Background:</a:t>
            </a:r>
            <a:r>
              <a:rPr lang="en-US" dirty="0">
                <a:latin typeface="Georgia Pro Light" panose="02040302050405020303" pitchFamily="18" charset="0"/>
              </a:rPr>
              <a:t> Academic qualifications and institutions attended.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 Pro Light" panose="02040302050405020303" pitchFamily="18" charset="0"/>
              </a:rPr>
              <a:t>Professional History:</a:t>
            </a:r>
            <a:r>
              <a:rPr lang="en-US" dirty="0">
                <a:latin typeface="Georgia Pro Light" panose="02040302050405020303" pitchFamily="18" charset="0"/>
              </a:rPr>
              <a:t> Previous careers and public service roles before current office.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 Pro Light" panose="02040302050405020303" pitchFamily="18" charset="0"/>
              </a:rPr>
              <a:t>Key Responsibilities:</a:t>
            </a:r>
            <a:r>
              <a:rPr lang="en-US" dirty="0">
                <a:latin typeface="Georgia Pro Light" panose="02040302050405020303" pitchFamily="18" charset="0"/>
              </a:rPr>
              <a:t> Overview of their ministries and designated duties.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986E8C-9189-378F-456D-2F605488EE2C}"/>
              </a:ext>
            </a:extLst>
          </p:cNvPr>
          <p:cNvSpPr txBox="1"/>
          <p:nvPr/>
        </p:nvSpPr>
        <p:spPr>
          <a:xfrm>
            <a:off x="2926080" y="5710664"/>
            <a:ext cx="9103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40302050405020303" pitchFamily="18" charset="0"/>
              </a:rPr>
              <a:t>All profiles maintain a consistent, factual format, devoid of comparisons or commentary.</a:t>
            </a:r>
          </a:p>
          <a:p>
            <a:endParaRPr lang="en-IN" dirty="0">
              <a:latin typeface="Georgia Pro Light" panose="020403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225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4BA782A2-5C68-E1F2-6EB6-BA7FCC3E8E05}"/>
              </a:ext>
            </a:extLst>
          </p:cNvPr>
          <p:cNvSpPr/>
          <p:nvPr/>
        </p:nvSpPr>
        <p:spPr>
          <a:xfrm>
            <a:off x="188845" y="1072155"/>
            <a:ext cx="6391077" cy="540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50"/>
              </a:lnSpc>
            </a:pPr>
            <a:r>
              <a:rPr lang="en-US" sz="3375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Role &amp; Responsibility Explainer</a:t>
            </a:r>
            <a:endParaRPr lang="en-US" sz="3375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80F5968C-E056-D39E-10FB-EB8EA3EF2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984" y="1977975"/>
            <a:ext cx="259358" cy="259358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DAF0DB32-B90B-6257-7DCB-7E70FE845728}"/>
              </a:ext>
            </a:extLst>
          </p:cNvPr>
          <p:cNvSpPr/>
          <p:nvPr/>
        </p:nvSpPr>
        <p:spPr>
          <a:xfrm>
            <a:off x="3768170" y="1972668"/>
            <a:ext cx="2161679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20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Constitutional Roles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650F3D7-3126-DF7E-313E-3C822331736A}"/>
              </a:ext>
            </a:extLst>
          </p:cNvPr>
          <p:cNvSpPr/>
          <p:nvPr/>
        </p:nvSpPr>
        <p:spPr>
          <a:xfrm>
            <a:off x="3768169" y="2346524"/>
            <a:ext cx="5847557" cy="553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Clarifies the foundational duties and mandates of various public offices as outlined in governing documents.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6981AFA8-20C5-056B-6965-0E7F734E8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984" y="3250952"/>
            <a:ext cx="259358" cy="259358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EE5E4D93-78D3-50D5-F04E-BD3D8F1E3ABB}"/>
              </a:ext>
            </a:extLst>
          </p:cNvPr>
          <p:cNvSpPr/>
          <p:nvPr/>
        </p:nvSpPr>
        <p:spPr>
          <a:xfrm>
            <a:off x="3768170" y="3245644"/>
            <a:ext cx="2416274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20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Powers and Limitations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135F1D1-1B29-9173-BFD0-69C7D92B1D68}"/>
              </a:ext>
            </a:extLst>
          </p:cNvPr>
          <p:cNvSpPr/>
          <p:nvPr/>
        </p:nvSpPr>
        <p:spPr>
          <a:xfrm>
            <a:off x="3768169" y="3619501"/>
            <a:ext cx="5847557" cy="553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Defines the authorized scope of action and inherent restrictions of elected positions, fostering realistic expectations.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AF600D55-FF41-F36C-3A90-5CD47999E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984" y="4523929"/>
            <a:ext cx="259358" cy="259358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EB18B195-8AFF-B8A4-D8E2-1E4D59A4D305}"/>
              </a:ext>
            </a:extLst>
          </p:cNvPr>
          <p:cNvSpPr/>
          <p:nvPr/>
        </p:nvSpPr>
        <p:spPr>
          <a:xfrm>
            <a:off x="3768170" y="4518620"/>
            <a:ext cx="2161679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20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Civic Literacy Boost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A20A36BA-20CD-1854-A146-1D11CEAE415C}"/>
              </a:ext>
            </a:extLst>
          </p:cNvPr>
          <p:cNvSpPr/>
          <p:nvPr/>
        </p:nvSpPr>
        <p:spPr>
          <a:xfrm>
            <a:off x="3768169" y="4892477"/>
            <a:ext cx="5847557" cy="553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Enhances public understanding of governmental structure and functions, promoting more informed citizen engagement.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E160A80E-B92A-E6D4-8BEC-6F3A52639897}"/>
              </a:ext>
            </a:extLst>
          </p:cNvPr>
          <p:cNvSpPr/>
          <p:nvPr/>
        </p:nvSpPr>
        <p:spPr>
          <a:xfrm>
            <a:off x="3020318" y="5755365"/>
            <a:ext cx="8551922" cy="553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This feature emphasizes the </a:t>
            </a:r>
            <a:r>
              <a:rPr lang="en-US" sz="1600" dirty="0">
                <a:solidFill>
                  <a:schemeClr val="accent2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responsibilities of the office</a:t>
            </a: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 rather than the authority of the individual.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695BC9C0-9A79-C9AA-1A7D-38056C6498F0}"/>
              </a:ext>
            </a:extLst>
          </p:cNvPr>
          <p:cNvSpPr/>
          <p:nvPr/>
        </p:nvSpPr>
        <p:spPr>
          <a:xfrm>
            <a:off x="188845" y="193072"/>
            <a:ext cx="3925955" cy="665283"/>
          </a:xfrm>
          <a:prstGeom prst="roundRect">
            <a:avLst>
              <a:gd name="adj" fmla="val 6134"/>
            </a:avLst>
          </a:prstGeom>
          <a:noFill/>
          <a:ln w="7620">
            <a:solidFill>
              <a:schemeClr val="accent2"/>
            </a:solidFill>
            <a:prstDash val="solid"/>
          </a:ln>
        </p:spPr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CD2E8726-3B5E-7B6A-ECFC-225E935ADD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509" y="242089"/>
            <a:ext cx="616266" cy="616266"/>
          </a:xfrm>
          <a:prstGeom prst="rect">
            <a:avLst/>
          </a:prstGeom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16C1074A-63F4-A67C-6551-BDA8C3C9C0EB}"/>
              </a:ext>
            </a:extLst>
          </p:cNvPr>
          <p:cNvSpPr/>
          <p:nvPr/>
        </p:nvSpPr>
        <p:spPr>
          <a:xfrm>
            <a:off x="1045084" y="458384"/>
            <a:ext cx="1610405" cy="496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Georgia Pro Light" panose="02040302050405020303" pitchFamily="18" charset="0"/>
              </a:rPr>
              <a:t>Understanding Governance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Georgia Pro Light" panose="020403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62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">
            <a:extLst>
              <a:ext uri="{FF2B5EF4-FFF2-40B4-BE49-F238E27FC236}">
                <a16:creationId xmlns:a16="http://schemas.microsoft.com/office/drawing/2014/main" id="{FD69373B-2FBB-8B47-CFBF-936272781138}"/>
              </a:ext>
            </a:extLst>
          </p:cNvPr>
          <p:cNvSpPr/>
          <p:nvPr/>
        </p:nvSpPr>
        <p:spPr>
          <a:xfrm>
            <a:off x="1219199" y="4003775"/>
            <a:ext cx="4402784" cy="1167227"/>
          </a:xfrm>
          <a:prstGeom prst="roundRect">
            <a:avLst>
              <a:gd name="adj" fmla="val 8979"/>
            </a:avLst>
          </a:prstGeom>
          <a:solidFill>
            <a:schemeClr val="accent2">
              <a:lumMod val="20000"/>
              <a:lumOff val="80000"/>
            </a:scheme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36B98F33-7719-26C3-C056-5A5192F88F93}"/>
              </a:ext>
            </a:extLst>
          </p:cNvPr>
          <p:cNvSpPr/>
          <p:nvPr/>
        </p:nvSpPr>
        <p:spPr>
          <a:xfrm>
            <a:off x="6686649" y="3022878"/>
            <a:ext cx="4722762" cy="1167227"/>
          </a:xfrm>
          <a:prstGeom prst="roundRect">
            <a:avLst>
              <a:gd name="adj" fmla="val 8979"/>
            </a:avLst>
          </a:prstGeom>
          <a:solidFill>
            <a:schemeClr val="accent2">
              <a:lumMod val="20000"/>
              <a:lumOff val="80000"/>
            </a:scheme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2" name="Shape 1">
            <a:extLst>
              <a:ext uri="{FF2B5EF4-FFF2-40B4-BE49-F238E27FC236}">
                <a16:creationId xmlns:a16="http://schemas.microsoft.com/office/drawing/2014/main" id="{9FDCBB93-BA0F-1E4E-19A8-77E6A05C4144}"/>
              </a:ext>
            </a:extLst>
          </p:cNvPr>
          <p:cNvSpPr/>
          <p:nvPr/>
        </p:nvSpPr>
        <p:spPr>
          <a:xfrm>
            <a:off x="706389" y="1894473"/>
            <a:ext cx="4915594" cy="1167227"/>
          </a:xfrm>
          <a:prstGeom prst="roundRect">
            <a:avLst>
              <a:gd name="adj" fmla="val 8979"/>
            </a:avLst>
          </a:prstGeom>
          <a:solidFill>
            <a:schemeClr val="accent2">
              <a:lumMod val="20000"/>
              <a:lumOff val="80000"/>
            </a:scheme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661806E-8154-F0A3-A50B-3C34344FDB6D}"/>
              </a:ext>
            </a:extLst>
          </p:cNvPr>
          <p:cNvSpPr/>
          <p:nvPr/>
        </p:nvSpPr>
        <p:spPr>
          <a:xfrm>
            <a:off x="188845" y="1143793"/>
            <a:ext cx="661709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Public Commitments Tracker</a:t>
            </a:r>
            <a:endParaRPr lang="en-US" sz="32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59F93E46-ADAF-B52E-6A51-69DD11248120}"/>
              </a:ext>
            </a:extLst>
          </p:cNvPr>
          <p:cNvSpPr/>
          <p:nvPr/>
        </p:nvSpPr>
        <p:spPr>
          <a:xfrm>
            <a:off x="6128197" y="1923056"/>
            <a:ext cx="25400" cy="3688557"/>
          </a:xfrm>
          <a:prstGeom prst="roundRect">
            <a:avLst>
              <a:gd name="adj" fmla="val 111628"/>
            </a:avLst>
          </a:prstGeom>
          <a:solidFill>
            <a:srgbClr val="E58A35"/>
          </a:solidFill>
          <a:ln/>
        </p:spPr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70BFE1AE-909D-027A-8BC6-561BC69E7C9D}"/>
              </a:ext>
            </a:extLst>
          </p:cNvPr>
          <p:cNvSpPr/>
          <p:nvPr/>
        </p:nvSpPr>
        <p:spPr>
          <a:xfrm>
            <a:off x="5788274" y="2122982"/>
            <a:ext cx="378023" cy="25400"/>
          </a:xfrm>
          <a:prstGeom prst="roundRect">
            <a:avLst>
              <a:gd name="adj" fmla="val 111628"/>
            </a:avLst>
          </a:prstGeom>
          <a:solidFill>
            <a:srgbClr val="E58A35"/>
          </a:solidFill>
          <a:ln/>
        </p:spPr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F9844145-BD24-4E5B-CFB5-1E14CA769B72}"/>
              </a:ext>
            </a:extLst>
          </p:cNvPr>
          <p:cNvSpPr/>
          <p:nvPr/>
        </p:nvSpPr>
        <p:spPr>
          <a:xfrm>
            <a:off x="6070055" y="2064840"/>
            <a:ext cx="141684" cy="141684"/>
          </a:xfrm>
          <a:prstGeom prst="roundRect">
            <a:avLst>
              <a:gd name="adj" fmla="val 268908"/>
            </a:avLst>
          </a:prstGeom>
          <a:solidFill>
            <a:srgbClr val="FFA44F"/>
          </a:solidFill>
          <a:ln/>
        </p:spPr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5A423177-2984-14BC-7592-59674EA07F0F}"/>
              </a:ext>
            </a:extLst>
          </p:cNvPr>
          <p:cNvSpPr/>
          <p:nvPr/>
        </p:nvSpPr>
        <p:spPr>
          <a:xfrm>
            <a:off x="3000723" y="1987946"/>
            <a:ext cx="238412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92"/>
              </a:lnSpc>
            </a:pPr>
            <a:r>
              <a:rPr lang="en-US" sz="20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Officially Announced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5F772CB7-85A9-1FC8-38AF-553BBAD3A563}"/>
              </a:ext>
            </a:extLst>
          </p:cNvPr>
          <p:cNvSpPr/>
          <p:nvPr/>
        </p:nvSpPr>
        <p:spPr>
          <a:xfrm>
            <a:off x="706389" y="2396628"/>
            <a:ext cx="46784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375"/>
              </a:lnSpc>
            </a:pPr>
            <a:r>
              <a:rPr lang="en-US" sz="1600" dirty="0"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Tracks commitments made through official channels or public statements.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3EB3E362-258E-098F-5953-070F44DC4E61}"/>
              </a:ext>
            </a:extLst>
          </p:cNvPr>
          <p:cNvSpPr/>
          <p:nvPr/>
        </p:nvSpPr>
        <p:spPr>
          <a:xfrm>
            <a:off x="6115497" y="3257052"/>
            <a:ext cx="378023" cy="25400"/>
          </a:xfrm>
          <a:prstGeom prst="roundRect">
            <a:avLst>
              <a:gd name="adj" fmla="val 111628"/>
            </a:avLst>
          </a:prstGeom>
          <a:solidFill>
            <a:srgbClr val="E58A35"/>
          </a:solidFill>
          <a:ln/>
        </p:spPr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020C4014-61D5-D77A-C558-4E71FD7D98C9}"/>
              </a:ext>
            </a:extLst>
          </p:cNvPr>
          <p:cNvSpPr/>
          <p:nvPr/>
        </p:nvSpPr>
        <p:spPr>
          <a:xfrm>
            <a:off x="6070055" y="3198911"/>
            <a:ext cx="141684" cy="141684"/>
          </a:xfrm>
          <a:prstGeom prst="roundRect">
            <a:avLst>
              <a:gd name="adj" fmla="val 268908"/>
            </a:avLst>
          </a:prstGeom>
          <a:solidFill>
            <a:srgbClr val="FFA44F"/>
          </a:solidFill>
          <a:ln/>
        </p:spPr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D603A946-EF76-4595-641F-431B62C4B0E1}"/>
              </a:ext>
            </a:extLst>
          </p:cNvPr>
          <p:cNvSpPr/>
          <p:nvPr/>
        </p:nvSpPr>
        <p:spPr>
          <a:xfrm>
            <a:off x="6896944" y="312201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0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Categorized Status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27D4DA36-83F1-304A-D756-577DA95CFDAC}"/>
              </a:ext>
            </a:extLst>
          </p:cNvPr>
          <p:cNvSpPr/>
          <p:nvPr/>
        </p:nvSpPr>
        <p:spPr>
          <a:xfrm>
            <a:off x="6896944" y="3530698"/>
            <a:ext cx="46784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600" dirty="0"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Clearly indicates if a commitment is Completed, Ongoing, or if there is No Official Update available.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DF0F2FED-0AA9-218C-4971-6F65058F733C}"/>
              </a:ext>
            </a:extLst>
          </p:cNvPr>
          <p:cNvSpPr/>
          <p:nvPr/>
        </p:nvSpPr>
        <p:spPr>
          <a:xfrm>
            <a:off x="5788274" y="4234556"/>
            <a:ext cx="378023" cy="25400"/>
          </a:xfrm>
          <a:prstGeom prst="roundRect">
            <a:avLst>
              <a:gd name="adj" fmla="val 111628"/>
            </a:avLst>
          </a:prstGeom>
          <a:solidFill>
            <a:srgbClr val="E58A35"/>
          </a:solidFill>
          <a:ln/>
        </p:spPr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8F7F0341-085D-2B90-2FAE-D0CFA6F8B4B0}"/>
              </a:ext>
            </a:extLst>
          </p:cNvPr>
          <p:cNvSpPr/>
          <p:nvPr/>
        </p:nvSpPr>
        <p:spPr>
          <a:xfrm>
            <a:off x="6070055" y="4176414"/>
            <a:ext cx="141684" cy="141684"/>
          </a:xfrm>
          <a:prstGeom prst="roundRect">
            <a:avLst>
              <a:gd name="adj" fmla="val 268908"/>
            </a:avLst>
          </a:prstGeom>
          <a:solidFill>
            <a:srgbClr val="FFA44F"/>
          </a:solidFill>
          <a:ln/>
        </p:spPr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83402D4E-0096-C9D5-B62E-9AB6D98D7E28}"/>
              </a:ext>
            </a:extLst>
          </p:cNvPr>
          <p:cNvSpPr/>
          <p:nvPr/>
        </p:nvSpPr>
        <p:spPr>
          <a:xfrm>
            <a:off x="3022154" y="409951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92"/>
              </a:lnSpc>
            </a:pPr>
            <a:r>
              <a:rPr lang="en-US" sz="20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Source Verification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4C71074C-99F5-B609-0999-CABD4D5FC023}"/>
              </a:ext>
            </a:extLst>
          </p:cNvPr>
          <p:cNvSpPr/>
          <p:nvPr/>
        </p:nvSpPr>
        <p:spPr>
          <a:xfrm>
            <a:off x="706389" y="4508201"/>
            <a:ext cx="46784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375"/>
              </a:lnSpc>
            </a:pPr>
            <a:r>
              <a:rPr lang="en-US" sz="1600" dirty="0"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Provides direct links to the original public announcements or relevant official documents.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76F5CCB4-7A52-ABEF-3396-9BA415D0BAFD}"/>
              </a:ext>
            </a:extLst>
          </p:cNvPr>
          <p:cNvSpPr/>
          <p:nvPr/>
        </p:nvSpPr>
        <p:spPr>
          <a:xfrm>
            <a:off x="3000723" y="5715794"/>
            <a:ext cx="6946604" cy="33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The tracker offers </a:t>
            </a:r>
            <a:r>
              <a:rPr lang="en-US" dirty="0">
                <a:solidFill>
                  <a:schemeClr val="accent2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transparent status updates without ranking or performance judgment</a:t>
            </a:r>
            <a:r>
              <a:rPr lang="en-US" dirty="0">
                <a:solidFill>
                  <a:srgbClr val="FFA44F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dirty="0">
              <a:latin typeface="Georgia Pro Light" panose="02040302050405020303" pitchFamily="18" charset="0"/>
            </a:endParaRPr>
          </a:p>
        </p:txBody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CCE15F86-40FA-FEDD-D532-74F1ECFD2A5F}"/>
              </a:ext>
            </a:extLst>
          </p:cNvPr>
          <p:cNvSpPr/>
          <p:nvPr/>
        </p:nvSpPr>
        <p:spPr>
          <a:xfrm>
            <a:off x="188845" y="193072"/>
            <a:ext cx="3062355" cy="665283"/>
          </a:xfrm>
          <a:prstGeom prst="roundRect">
            <a:avLst>
              <a:gd name="adj" fmla="val 6134"/>
            </a:avLst>
          </a:prstGeom>
          <a:noFill/>
          <a:ln w="7620">
            <a:solidFill>
              <a:schemeClr val="accent2"/>
            </a:solidFill>
            <a:prstDash val="solid"/>
          </a:ln>
        </p:spPr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11635852-EA25-30CB-0E4B-1A5A3363B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509" y="242089"/>
            <a:ext cx="616266" cy="616266"/>
          </a:xfrm>
          <a:prstGeom prst="rect">
            <a:avLst/>
          </a:prstGeom>
        </p:spPr>
      </p:pic>
      <p:sp>
        <p:nvSpPr>
          <p:cNvPr id="41" name="Text 1">
            <a:extLst>
              <a:ext uri="{FF2B5EF4-FFF2-40B4-BE49-F238E27FC236}">
                <a16:creationId xmlns:a16="http://schemas.microsoft.com/office/drawing/2014/main" id="{00D45512-50B7-B786-A7CF-1BF87E89C50B}"/>
              </a:ext>
            </a:extLst>
          </p:cNvPr>
          <p:cNvSpPr/>
          <p:nvPr/>
        </p:nvSpPr>
        <p:spPr>
          <a:xfrm>
            <a:off x="1045084" y="458384"/>
            <a:ext cx="1610405" cy="496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Georgia Pro Light" panose="02040302050405020303" pitchFamily="18" charset="0"/>
              </a:rPr>
              <a:t>Transparency Tool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Georgia Pro Light" panose="020403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874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07F954C-03F0-C46A-23BE-4E26527DFFA2}"/>
              </a:ext>
            </a:extLst>
          </p:cNvPr>
          <p:cNvSpPr/>
          <p:nvPr/>
        </p:nvSpPr>
        <p:spPr>
          <a:xfrm>
            <a:off x="188846" y="193072"/>
            <a:ext cx="3318284" cy="665283"/>
          </a:xfrm>
          <a:prstGeom prst="roundRect">
            <a:avLst>
              <a:gd name="adj" fmla="val 6134"/>
            </a:avLst>
          </a:prstGeom>
          <a:noFill/>
          <a:ln w="7620">
            <a:solidFill>
              <a:schemeClr val="accent2"/>
            </a:solidFill>
            <a:prstDash val="solid"/>
          </a:ln>
        </p:spPr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6FCAB9F3-00EB-C92C-7C56-04F9B5477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509" y="242089"/>
            <a:ext cx="616266" cy="616266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9042F824-6566-AAEB-96C6-D58A4FAF5B9F}"/>
              </a:ext>
            </a:extLst>
          </p:cNvPr>
          <p:cNvSpPr/>
          <p:nvPr/>
        </p:nvSpPr>
        <p:spPr>
          <a:xfrm>
            <a:off x="1045084" y="458384"/>
            <a:ext cx="1610405" cy="496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Georgia Pro Light" panose="02040302050405020303" pitchFamily="18" charset="0"/>
              </a:rPr>
              <a:t>Empowering 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Georgia Pro Light" panose="02040302050405020303" pitchFamily="18" charset="0"/>
              </a:rPr>
              <a:t>Citizens 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Georgia Pro Light" panose="02040302050405020303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EB476DA-8144-CA9A-1A81-8932E1D22420}"/>
              </a:ext>
            </a:extLst>
          </p:cNvPr>
          <p:cNvSpPr/>
          <p:nvPr/>
        </p:nvSpPr>
        <p:spPr>
          <a:xfrm>
            <a:off x="186630" y="1067946"/>
            <a:ext cx="6267153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3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Civic Issue Documentation Module</a:t>
            </a:r>
            <a:endParaRPr lang="en-US" sz="32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1DEF06CE-EE41-4AD1-68CE-9BA5831B10C5}"/>
              </a:ext>
            </a:extLst>
          </p:cNvPr>
          <p:cNvSpPr/>
          <p:nvPr/>
        </p:nvSpPr>
        <p:spPr>
          <a:xfrm>
            <a:off x="3608686" y="1938961"/>
            <a:ext cx="337244" cy="33724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4F7BED3-F671-1D9A-EC04-E769DB1F2CE6}"/>
              </a:ext>
            </a:extLst>
          </p:cNvPr>
          <p:cNvSpPr/>
          <p:nvPr/>
        </p:nvSpPr>
        <p:spPr>
          <a:xfrm>
            <a:off x="3664843" y="1967039"/>
            <a:ext cx="224830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50"/>
              </a:lnSpc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75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1117246-776B-CE5C-2572-7C8B4827E476}"/>
              </a:ext>
            </a:extLst>
          </p:cNvPr>
          <p:cNvSpPr/>
          <p:nvPr/>
        </p:nvSpPr>
        <p:spPr>
          <a:xfrm>
            <a:off x="4095750" y="1990455"/>
            <a:ext cx="1873746" cy="234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20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User Submissions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79E5716-A21F-4AA4-A205-C8DABEB5204F}"/>
              </a:ext>
            </a:extLst>
          </p:cNvPr>
          <p:cNvSpPr/>
          <p:nvPr/>
        </p:nvSpPr>
        <p:spPr>
          <a:xfrm>
            <a:off x="4095750" y="2374531"/>
            <a:ext cx="4901406" cy="479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Citizens can upload geo-tagged images of local civic issues directly through the app.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2436911D-9610-DD6B-E18B-C28D8EC3AA40}"/>
              </a:ext>
            </a:extLst>
          </p:cNvPr>
          <p:cNvSpPr/>
          <p:nvPr/>
        </p:nvSpPr>
        <p:spPr>
          <a:xfrm>
            <a:off x="3608686" y="3153894"/>
            <a:ext cx="337244" cy="33724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AAAE0B95-3A1B-5B11-AA80-70ADB1C4C678}"/>
              </a:ext>
            </a:extLst>
          </p:cNvPr>
          <p:cNvSpPr/>
          <p:nvPr/>
        </p:nvSpPr>
        <p:spPr>
          <a:xfrm>
            <a:off x="3664843" y="3181973"/>
            <a:ext cx="224830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50"/>
              </a:lnSpc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75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61678B2F-A69E-DF33-A4A3-423900CEFF3B}"/>
              </a:ext>
            </a:extLst>
          </p:cNvPr>
          <p:cNvSpPr/>
          <p:nvPr/>
        </p:nvSpPr>
        <p:spPr>
          <a:xfrm>
            <a:off x="4095750" y="3205389"/>
            <a:ext cx="1873746" cy="234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2000" b="1" dirty="0">
                <a:latin typeface="Georgia Pro Light" panose="02040302050405020303" pitchFamily="18" charset="0"/>
              </a:rPr>
              <a:t>Categorization</a:t>
            </a: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40D39A45-DCB7-BCE3-9A3F-1ECB603F52C9}"/>
              </a:ext>
            </a:extLst>
          </p:cNvPr>
          <p:cNvSpPr/>
          <p:nvPr/>
        </p:nvSpPr>
        <p:spPr>
          <a:xfrm>
            <a:off x="4095750" y="3589464"/>
            <a:ext cx="4901406" cy="479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Issues are organized into key categories such as road conditions, water supply, public lighting, and sanitation.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48407866-42BE-DCAD-5F24-70AA5A24C28F}"/>
              </a:ext>
            </a:extLst>
          </p:cNvPr>
          <p:cNvSpPr/>
          <p:nvPr/>
        </p:nvSpPr>
        <p:spPr>
          <a:xfrm>
            <a:off x="3608686" y="4368828"/>
            <a:ext cx="337244" cy="33724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6E77A7EE-E318-BA01-330E-C3C96666C21D}"/>
              </a:ext>
            </a:extLst>
          </p:cNvPr>
          <p:cNvSpPr/>
          <p:nvPr/>
        </p:nvSpPr>
        <p:spPr>
          <a:xfrm>
            <a:off x="3664843" y="4396906"/>
            <a:ext cx="224830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50"/>
              </a:lnSpc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75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F607B0E-019C-03F7-3D11-E49A4C0E90F0}"/>
              </a:ext>
            </a:extLst>
          </p:cNvPr>
          <p:cNvSpPr/>
          <p:nvPr/>
        </p:nvSpPr>
        <p:spPr>
          <a:xfrm>
            <a:off x="4095751" y="4420322"/>
            <a:ext cx="2068314" cy="234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2000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Public Record Creation</a:t>
            </a:r>
            <a:endParaRPr lang="en-US" sz="2000" b="1" dirty="0">
              <a:latin typeface="Georgia Pro Light" panose="02040302050405020303" pitchFamily="18" charset="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D5FFA6DD-4B92-CEA9-A2C8-2A25C0CE81E7}"/>
              </a:ext>
            </a:extLst>
          </p:cNvPr>
          <p:cNvSpPr/>
          <p:nvPr/>
        </p:nvSpPr>
        <p:spPr>
          <a:xfrm>
            <a:off x="4095750" y="4804398"/>
            <a:ext cx="4901406" cy="479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Each submission contributes to a transparent, publicly accessible database of civic concerns.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194F445F-7A2F-467F-D5A4-2D8D8FBB6672}"/>
              </a:ext>
            </a:extLst>
          </p:cNvPr>
          <p:cNvSpPr/>
          <p:nvPr/>
        </p:nvSpPr>
        <p:spPr>
          <a:xfrm>
            <a:off x="3027660" y="5789613"/>
            <a:ext cx="8640465" cy="479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This module facilitates </a:t>
            </a:r>
            <a:r>
              <a:rPr lang="en-US" dirty="0">
                <a:solidFill>
                  <a:schemeClr val="accent2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data collection without comments, opinions, or blame attribution.</a:t>
            </a:r>
            <a:endParaRPr lang="en-US" dirty="0">
              <a:solidFill>
                <a:schemeClr val="accent2"/>
              </a:solidFill>
              <a:latin typeface="Georgia Pro Light" panose="020403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637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A1DCB49-E01E-5DD8-1971-C56D11C42717}"/>
              </a:ext>
            </a:extLst>
          </p:cNvPr>
          <p:cNvSpPr/>
          <p:nvPr/>
        </p:nvSpPr>
        <p:spPr>
          <a:xfrm>
            <a:off x="438448" y="344488"/>
            <a:ext cx="3150791" cy="391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42"/>
              </a:lnSpc>
            </a:pPr>
            <a:r>
              <a:rPr lang="en-US" sz="3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Impact &amp; Conclusion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EAD73BF-995F-6916-635B-731AC65B644A}"/>
              </a:ext>
            </a:extLst>
          </p:cNvPr>
          <p:cNvSpPr/>
          <p:nvPr/>
        </p:nvSpPr>
        <p:spPr>
          <a:xfrm>
            <a:off x="3005603" y="1077524"/>
            <a:ext cx="1879104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2400" u="sng" dirty="0">
                <a:solidFill>
                  <a:srgbClr val="030303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Global Impact</a:t>
            </a:r>
            <a:r>
              <a:rPr lang="en-US" sz="2400" dirty="0">
                <a:solidFill>
                  <a:srgbClr val="030303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 :</a:t>
            </a:r>
            <a:endParaRPr lang="en-US" sz="2400" dirty="0">
              <a:latin typeface="Georgia Pro Light" panose="02040302050405020303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84FABE0-20D8-3F3B-9D5C-1BB19E7D6038}"/>
              </a:ext>
            </a:extLst>
          </p:cNvPr>
          <p:cNvSpPr/>
          <p:nvPr/>
        </p:nvSpPr>
        <p:spPr>
          <a:xfrm>
            <a:off x="4429229" y="1491828"/>
            <a:ext cx="501055" cy="771723"/>
          </a:xfrm>
          <a:prstGeom prst="roundRect">
            <a:avLst>
              <a:gd name="adj" fmla="val 36003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AF7F950-4DED-F59D-ABC1-E2A72786DAC4}"/>
              </a:ext>
            </a:extLst>
          </p:cNvPr>
          <p:cNvSpPr/>
          <p:nvPr/>
        </p:nvSpPr>
        <p:spPr>
          <a:xfrm>
            <a:off x="4604458" y="1825532"/>
            <a:ext cx="187821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20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ED031E1-706D-2FB7-264D-A758352E3F15}"/>
              </a:ext>
            </a:extLst>
          </p:cNvPr>
          <p:cNvSpPr/>
          <p:nvPr/>
        </p:nvSpPr>
        <p:spPr>
          <a:xfrm>
            <a:off x="5055498" y="1617042"/>
            <a:ext cx="1590179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Boosts Civic Literacy</a:t>
            </a:r>
            <a:endParaRPr lang="en-US" b="1" dirty="0">
              <a:latin typeface="Georgia Pro Light" panose="02040302050405020303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4930BC-03C3-0A65-7714-9141B3028B03}"/>
              </a:ext>
            </a:extLst>
          </p:cNvPr>
          <p:cNvSpPr/>
          <p:nvPr/>
        </p:nvSpPr>
        <p:spPr>
          <a:xfrm>
            <a:off x="5055498" y="1937915"/>
            <a:ext cx="6040537" cy="20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4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Educates students and citizens.</a:t>
            </a:r>
            <a:endParaRPr lang="en-US" sz="1400" dirty="0">
              <a:latin typeface="Georgia Pro Light" panose="02040302050405020303" pitchFamily="18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422BA84-9A57-F469-131B-9C1A749C1FB1}"/>
              </a:ext>
            </a:extLst>
          </p:cNvPr>
          <p:cNvSpPr/>
          <p:nvPr/>
        </p:nvSpPr>
        <p:spPr>
          <a:xfrm>
            <a:off x="4429229" y="2388765"/>
            <a:ext cx="501055" cy="771723"/>
          </a:xfrm>
          <a:prstGeom prst="roundRect">
            <a:avLst>
              <a:gd name="adj" fmla="val 36003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32B5662-735F-F181-0D3E-F3713E144959}"/>
              </a:ext>
            </a:extLst>
          </p:cNvPr>
          <p:cNvSpPr/>
          <p:nvPr/>
        </p:nvSpPr>
        <p:spPr>
          <a:xfrm>
            <a:off x="4623120" y="2722469"/>
            <a:ext cx="187821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20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0BF1973-7C44-3C5E-C8E2-F218E51BA60D}"/>
              </a:ext>
            </a:extLst>
          </p:cNvPr>
          <p:cNvSpPr/>
          <p:nvPr/>
        </p:nvSpPr>
        <p:spPr>
          <a:xfrm>
            <a:off x="5055498" y="2513979"/>
            <a:ext cx="1565870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Fosters Engagement</a:t>
            </a:r>
            <a:endParaRPr lang="en-US" b="1" dirty="0">
              <a:latin typeface="Georgia Pro Light" panose="02040302050405020303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390DE43-B7F7-0077-5D9F-2C6079AA7044}"/>
              </a:ext>
            </a:extLst>
          </p:cNvPr>
          <p:cNvSpPr/>
          <p:nvPr/>
        </p:nvSpPr>
        <p:spPr>
          <a:xfrm>
            <a:off x="5055498" y="2834853"/>
            <a:ext cx="6040537" cy="20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4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Encourages informed citizenship.</a:t>
            </a:r>
            <a:endParaRPr lang="en-US" sz="1400" dirty="0">
              <a:latin typeface="Georgia Pro Light" panose="02040302050405020303" pitchFamily="18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F5BC723-3F30-B8B3-B3FF-87372AB386B2}"/>
              </a:ext>
            </a:extLst>
          </p:cNvPr>
          <p:cNvSpPr/>
          <p:nvPr/>
        </p:nvSpPr>
        <p:spPr>
          <a:xfrm>
            <a:off x="4429229" y="3285703"/>
            <a:ext cx="501055" cy="771723"/>
          </a:xfrm>
          <a:prstGeom prst="roundRect">
            <a:avLst>
              <a:gd name="adj" fmla="val 36003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96AD470-C8A4-F1CB-03A2-34EA04476392}"/>
              </a:ext>
            </a:extLst>
          </p:cNvPr>
          <p:cNvSpPr/>
          <p:nvPr/>
        </p:nvSpPr>
        <p:spPr>
          <a:xfrm>
            <a:off x="4613789" y="3619407"/>
            <a:ext cx="187821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20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225D2A3-FB5D-0721-5429-8F8E872D4A70}"/>
              </a:ext>
            </a:extLst>
          </p:cNvPr>
          <p:cNvSpPr/>
          <p:nvPr/>
        </p:nvSpPr>
        <p:spPr>
          <a:xfrm>
            <a:off x="5055498" y="3410917"/>
            <a:ext cx="1823244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Reduces Misinformation</a:t>
            </a:r>
            <a:endParaRPr lang="en-US" b="1" dirty="0">
              <a:latin typeface="Georgia Pro Light" panose="02040302050405020303" pitchFamily="18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4C0E09E-85B0-8AAD-016C-F666D7BD62EF}"/>
              </a:ext>
            </a:extLst>
          </p:cNvPr>
          <p:cNvSpPr/>
          <p:nvPr/>
        </p:nvSpPr>
        <p:spPr>
          <a:xfrm>
            <a:off x="5055498" y="3731790"/>
            <a:ext cx="6040537" cy="20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4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Provides reliable data.</a:t>
            </a:r>
            <a:endParaRPr lang="en-US" sz="1400" dirty="0">
              <a:latin typeface="Georgia Pro Light" panose="02040302050405020303" pitchFamily="18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16FAE4C-FA72-00AE-3F91-36B0134A668A}"/>
              </a:ext>
            </a:extLst>
          </p:cNvPr>
          <p:cNvSpPr/>
          <p:nvPr/>
        </p:nvSpPr>
        <p:spPr>
          <a:xfrm>
            <a:off x="4429229" y="4182640"/>
            <a:ext cx="501055" cy="771723"/>
          </a:xfrm>
          <a:prstGeom prst="roundRect">
            <a:avLst>
              <a:gd name="adj" fmla="val 36003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D774AB3-E79D-5F26-75FA-8599DCF8DDC3}"/>
              </a:ext>
            </a:extLst>
          </p:cNvPr>
          <p:cNvSpPr/>
          <p:nvPr/>
        </p:nvSpPr>
        <p:spPr>
          <a:xfrm>
            <a:off x="4613789" y="4516344"/>
            <a:ext cx="187821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20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3B81DC2-363E-E812-6CA5-C2DED62AEFDC}"/>
              </a:ext>
            </a:extLst>
          </p:cNvPr>
          <p:cNvSpPr/>
          <p:nvPr/>
        </p:nvSpPr>
        <p:spPr>
          <a:xfrm>
            <a:off x="5055498" y="4307854"/>
            <a:ext cx="1770162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b="1" dirty="0">
                <a:solidFill>
                  <a:srgbClr val="464646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Supports Transparency</a:t>
            </a:r>
            <a:endParaRPr lang="en-US" b="1" dirty="0">
              <a:latin typeface="Georgia Pro Light" panose="02040302050405020303" pitchFamily="18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06B9B89-FD62-A9E5-2EA7-07D9A07D281A}"/>
              </a:ext>
            </a:extLst>
          </p:cNvPr>
          <p:cNvSpPr/>
          <p:nvPr/>
        </p:nvSpPr>
        <p:spPr>
          <a:xfrm>
            <a:off x="5055498" y="4628728"/>
            <a:ext cx="6040537" cy="20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4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Raises awareness of good governance.</a:t>
            </a:r>
            <a:endParaRPr lang="en-US" sz="1400" dirty="0">
              <a:latin typeface="Georgia Pro Light" panose="02040302050405020303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9B961450-C8AA-FCE0-7066-DE88865086FC}"/>
              </a:ext>
            </a:extLst>
          </p:cNvPr>
          <p:cNvSpPr/>
          <p:nvPr/>
        </p:nvSpPr>
        <p:spPr>
          <a:xfrm>
            <a:off x="3005603" y="5446066"/>
            <a:ext cx="1126324" cy="220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2400" u="sng" dirty="0">
                <a:solidFill>
                  <a:srgbClr val="030303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Conclusion</a:t>
            </a:r>
            <a:r>
              <a:rPr lang="en-US" sz="2400" dirty="0">
                <a:solidFill>
                  <a:srgbClr val="030303"/>
                </a:solidFill>
                <a:latin typeface="Georgia Pro Light" panose="02040302050405020303" pitchFamily="18" charset="0"/>
                <a:ea typeface="DM Sans Semi Bold" pitchFamily="34" charset="-122"/>
                <a:cs typeface="DM Sans Semi Bold" pitchFamily="34" charset="-120"/>
              </a:rPr>
              <a:t> :</a:t>
            </a:r>
            <a:endParaRPr lang="en-US" sz="2400" dirty="0">
              <a:latin typeface="Georgia Pro Light" panose="02040302050405020303" pitchFamily="18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87331-29AF-1126-EFDC-8B24FD4F3D76}"/>
              </a:ext>
            </a:extLst>
          </p:cNvPr>
          <p:cNvSpPr/>
          <p:nvPr/>
        </p:nvSpPr>
        <p:spPr>
          <a:xfrm>
            <a:off x="3005603" y="5771703"/>
            <a:ext cx="6782209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LokKartavya </a:t>
            </a:r>
            <a:r>
              <a:rPr lang="en-US" sz="1600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strengthens democracy by making public information clear, accessible, and neutral.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1213E685-4AE0-EF8C-5975-33BB2D533EF4}"/>
              </a:ext>
            </a:extLst>
          </p:cNvPr>
          <p:cNvSpPr/>
          <p:nvPr/>
        </p:nvSpPr>
        <p:spPr>
          <a:xfrm>
            <a:off x="3380037" y="6332191"/>
            <a:ext cx="3265640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dirty="0">
                <a:solidFill>
                  <a:srgbClr val="464646"/>
                </a:solidFill>
                <a:latin typeface="Georgia Pro Light" panose="02040302050405020303" pitchFamily="18" charset="0"/>
                <a:ea typeface="Inter Medium" pitchFamily="34" charset="-122"/>
                <a:cs typeface="Inter Medium" pitchFamily="34" charset="-120"/>
              </a:rPr>
              <a:t>An informed citizenry is the foundation of a healthy democracy.</a:t>
            </a:r>
            <a:endParaRPr lang="en-US" dirty="0">
              <a:latin typeface="Georgia Pro Light" panose="02040302050405020303" pitchFamily="18" charset="0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412D799F-7446-E64E-6AC4-59C17577D4F5}"/>
              </a:ext>
            </a:extLst>
          </p:cNvPr>
          <p:cNvSpPr/>
          <p:nvPr/>
        </p:nvSpPr>
        <p:spPr>
          <a:xfrm>
            <a:off x="3192214" y="6191300"/>
            <a:ext cx="45719" cy="452209"/>
          </a:xfrm>
          <a:prstGeom prst="rect">
            <a:avLst/>
          </a:prstGeom>
          <a:solidFill>
            <a:srgbClr val="030303"/>
          </a:solidFill>
          <a:ln/>
        </p:spPr>
      </p:sp>
    </p:spTree>
    <p:extLst>
      <p:ext uri="{BB962C8B-B14F-4D97-AF65-F5344CB8AC3E}">
        <p14:creationId xmlns:p14="http://schemas.microsoft.com/office/powerpoint/2010/main" val="1866102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670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DM Sans Semi Bold</vt:lpstr>
      <vt:lpstr>Georgia Pro Light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 Solutions</dc:creator>
  <cp:lastModifiedBy>SPARK O⁠_⁠o</cp:lastModifiedBy>
  <cp:revision>5</cp:revision>
  <dcterms:created xsi:type="dcterms:W3CDTF">2021-12-10T08:03:28Z</dcterms:created>
  <dcterms:modified xsi:type="dcterms:W3CDTF">2026-03-19T20:45:36Z</dcterms:modified>
</cp:coreProperties>
</file>